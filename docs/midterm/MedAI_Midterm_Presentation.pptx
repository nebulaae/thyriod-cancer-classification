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224b257-e20c-8241-b4d5-353973c817a5}">
          <p14:sldIdLst>
            <p14:sldId id="256"/>
            <p14:sldId id="257"/>
          </p14:sldIdLst>
        </p14:section>
        <p14:section name="Problem &amp; questions" id="{d9c50cdd-83d1-9963-7ce3-ffc49de9a39f}">
          <p14:sldIdLst>
            <p14:sldId id="258"/>
            <p14:sldId id="259"/>
          </p14:sldIdLst>
        </p14:section>
        <p14:section name="Literature" id="{bc31e4a1-4ecc-050b-4822-2a6807502841}">
          <p14:sldIdLst>
            <p14:sldId id="260"/>
          </p14:sldIdLst>
        </p14:section>
        <p14:section name="Methodology" id="{f0555f2d-a6aa-811c-fa5e-a4e7fdd628e2}">
          <p14:sldIdLst>
            <p14:sldId id="261"/>
            <p14:sldId id="262"/>
            <p14:sldId id="263"/>
          </p14:sldIdLst>
        </p14:section>
        <p14:section name="Roadmap" id="{3702e876-d080-e49f-112d-442aadac5b5e}">
          <p14:sldIdLst>
            <p14:sldId id="264"/>
          </p14:sldIdLst>
        </p14:section>
        <p14:section name="Conclusion" id="{3fbfea9d-267a-5900-e0d1-668bbba28dd3}">
          <p14:sldIdLst>
            <p14:sldId id="265"/>
            <p14:sldId id="266"/>
          </p14:sldIdLst>
        </p14:section>
        <p14:section name="Backup" id="{781ef009-eb6b-305c-ac11-0a69f8db891f}">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A4A"/>
                </a:solidFill>
                <a:latin typeface="+mn-lt"/>
              </a:defRPr>
            </a:pPr>
            <a:r>
              <a:rPr sz="1300" b="0" i="0" u="none" strike="noStrike">
                <a:solidFill>
                  <a:srgbClr val="1B2A4A"/>
                </a:solidFill>
                <a:latin typeface="+mn-lt"/>
              </a:rPr>
              <a:t>Validation metrics, fold 0 (n = 77; τ = 0.5)</a:t>
            </a:r>
          </a:p>
        </c:rich>
      </c:tx>
      <c:layout/>
      <c:overlay val="0"/>
    </c:title>
    <c:autoTitleDeleted val="0"/>
    <c:plotArea>
      <c:layout/>
      <c:barChart>
        <c:barDir val="bar"/>
        <c:grouping val="clustered"/>
        <c:varyColors val="0"/>
        <c:ser>
          <c:idx val="0"/>
          <c:order val="0"/>
          <c:tx>
            <c:strRef>
              <c:f>Sheet1!$B$1</c:f>
              <c:strCache>
                <c:ptCount val="1"/>
                <c:pt idx="0">
                  <c:v>Fold 0</c:v>
                </c:pt>
              </c:strCache>
            </c:strRef>
          </c:tx>
          <c:spPr>
            <a:solidFill>
              <a:srgbClr val="1B2A4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AUROC  0.979</c:v>
                  </c:pt>
                  <c:pt idx="1">
                    <c:v>AUPRC  0.984</c:v>
                  </c:pt>
                  <c:pt idx="2">
                    <c:v>Accuracy  0.883</c:v>
                  </c:pt>
                  <c:pt idx="3">
                    <c:v>Balanced acc.  0.864</c:v>
                  </c:pt>
                  <c:pt idx="4">
                    <c:v>F1  0.907</c:v>
                  </c:pt>
                  <c:pt idx="5">
                    <c:v>Sensitivity  1.000</c:v>
                  </c:pt>
                  <c:pt idx="6">
                    <c:v>Specificity  0.727</c:v>
                  </c:pt>
                  <c:pt idx="7">
                    <c:v>MCC  0.777</c:v>
                  </c:pt>
                </c:lvl>
              </c:multiLvlStrCache>
            </c:multiLvlStrRef>
          </c:cat>
          <c:val>
            <c:numRef>
              <c:f>Sheet1!$B$2:$B$9</c:f>
              <c:numCache>
                <c:formatCode>General</c:formatCode>
                <c:ptCount val="8"/>
                <c:pt idx="0">
                  <c:v>0.979</c:v>
                </c:pt>
                <c:pt idx="1">
                  <c:v>0.984</c:v>
                </c:pt>
                <c:pt idx="2">
                  <c:v>0.883</c:v>
                </c:pt>
                <c:pt idx="3">
                  <c:v>0.864</c:v>
                </c:pt>
                <c:pt idx="4">
                  <c:v>0.907</c:v>
                </c:pt>
                <c:pt idx="5">
                  <c:v>1</c:v>
                </c:pt>
                <c:pt idx="6">
                  <c:v>0.727</c:v>
                </c:pt>
                <c:pt idx="7">
                  <c:v>0.777</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max val="1"/>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am Lazizbek Usmanov from team MedAI. My project is the development and evaluation of an interpretable deep learning pipeline that classifies thyroid lesions as benign or papillary thyroid carcinoma by combining two kinds of images from the same patient: an ultrasound image and several cytology patches from fine-needle aspiration. On the right you can see real examples from our dataset. In the next ten minutes I will explain the problem, my research questions, what the literature says, how the system is designed, the first results, and the plan to reach a working MVP by the end of the semester.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clinical practice, a thyroid nodule is first examined with ultrasound and scored with ACR TI-RADS. Suspicious nodules are aspirated, and a cytopathologist reports the smear with the Bethesda system. These are two different specialists reading two different modalities, and their findings are not combined in one quantitative model. Deep learning already works on each modality separately: ultrasound CNNs reach AUROC around 0.91 to 0.95, and cytology models around 0.93. But these systems use one modality, depend on very large cohorts, and rarely report calibration or explain their decisions. That is the gap my project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three research problems from my approved proposal, and each one comes from evidence in my own work. First, overfitting: when I fine-tuned a fully unfrozen ConvNeXt-Tiny on only 384 patients, accuracy reached about 99 percent within the first epochs, which is memorisation, not learning. Second, the first prototype was split into seven scripts with duplicated definitions, so preprocessing, training and evaluation could silently diverge. Third, evaluation reported only accuracy, with no confidence intervals, no calibration and no explanation. Together, these make it a Computer Science problem: small-data learning, multimodal fusion, reproducible engineering and trustworthy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problem becomes one research question and one specific objective, exactly as approved in my proposal. RQ1 asks how much backbone freezing, regularisation and an optimised training schedule improve generalisation; the objective is to implement these controls and evaluate them with an ablation study across five folds. RQ2 asks how a unified pipeline improves reproducibility, consistency and efficiency; the objective is one pipeline from metadata to evaluation, with identical-seed re-runs agreeing within 0.005 AUROC. RQ3 asks how visualisation and clinical metrics improve interpretability and reliability; the objective is a full clinical metric panel plus validated patch-level explanations. The right column shows the SMART targets and deadlines I will be judged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literature shows that each modality works on its own. Li and colleagues reached AUROCs between 0.91 and 0.95 on ultrasound, but with more than 130 thousand images. Buda showed a CNN on par with TI-RADS experts for biopsy decisions. On cytology, Guan reported 95 percent patient-level accuracy but on only 40 test patients, and Elliott Range matched a cytopathologist using whole-slide scans. Multiple-instance learning gives us a principled way to handle bags of patches, but attention weights are not automatically valid explanations. So what is missing is patient-level fusion of both modalities in a small-data regime, with honest evaluation and validated explanations. That is my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system architecture. Everything is driven by one configuration dictionary, which is also stored inside every checkpoint. The single entry point runs four stages: first, a data audit pairs ultrasound and cytology files by patient ID and assigns patient-level stratified folds, so no patient ever appears in both training and validation. Then the data pipeline loads and augments images and pads the variable-length patch bags with a mask. The model is trained with the regularisation recipe, evaluated with the full metric panel, and finally explained with patch-level relevance. The inference tool reuses the checkpoint and will be wrapped by the web demo. I work in two-week sprints with Git feature branches and fixed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model. Each patient has one ultrasound image and two to seven cytology patches. Two separate ImageNet-pretrained ConvNeXt-Tiny encoders turn the ultrasound image and each patch into 768-dimensional vectors, which are projected to 512 dimensions. A small transformer lets the cytology patches exchange context, with a mask so padding is ignored. Then the sequence of a learnable CLS token, the ultrasound token and the patch tokens goes through a fusion transformer, and the CLS output is classified by an MLP head into the probability of PTC. For explainability, I compare the fused CLS token with each patch token. The dataset has 384 paired patients, 165 benign and 219 PTC, and 1,332 cytology patches.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baseline overfitted, I froze the early backbone stages, raised dropout to 0.4 and weight decay to 1e-3, lowered the learning rate to 3e-5 with warm-up and cosine decay, made the transformers smaller, and added label smoothing, gradient clipping and model selection on validation AUROC. On fold 0, the pipeline reaches an AUROC of 0.979 with a 95 percent confidence interval from 0.948 to 0.997, and it misses no PTC case. The weak point is specificity: 0.73 at the default threshold, rising to 0.85 at the Youden threshold. The bottom-left image is the explainability output for a true positive. I want to be honest: this is one fold, selected on itself, so it is optimistic — the full five-fold nested evaluation is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my semester roadmap. Weeks one to six are completed: the data audit, the unified pipeline, the multimodal model, the overfitting fixes, the first fold, and the inference command-line tool. In weeks seven and eight, I am doing this proposal and fixing the issues the audit found, such as a shared model module and explicit stage freezing. Weeks nine and ten run full five-fold nested cross-validation and the ablation study. Weeks eleven and twelve add calibration, the explanation faithfulness tests and the Gradio web demo. Week thirteen answers the research questions against the SMART targets, and week fourteen is documentation and the final demo. The bottom row shows the MVP: three parts already work, three are planned.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this project builds an interpretable, reproducible pipeline that fuses ultrasound and cytology to classify thyroid lesions, and it already works, with an AUROC of 0.979 on the first fold. I expect four contributions. Empirically, a controlled ablation showing how much each overfitting control helps. In engineering, a single-entry, reproducible pipeline. Methodologically, a clinical evaluation protocol with confidence intervals, calibration and tested explanations. And as a product, a working MVP that takes a patient’s images and returns a malignancy probability with a visual explanation, clearly marked for research use only. Thank you, I am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I am ready for questions. If useful, I have two backup slides: the MVP conceptual diagram and the key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the MVP conceptual diagram. Data input, pre-processing, the core model, risk assessment with a calibrated probability and threshold, and the planned web interface showing the probability and patch relevance, all supported by the research evaluation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with the key references. Numbers match the full list of 38 IEEE references in the written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74520"/>
            <a:ext cx="6858000" cy="228600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rtlCol="0"/>
          <a:lstStyle>
            <a:lvl1pPr indent="0" marL="0">
              <a:buNone/>
              <a:defRPr lang="en-US" sz="2800" b="1" dirty="0">
                <a:solidFill>
                  <a:schemeClr val="tx2"/>
                </a:solidFill>
              </a:defRPr>
            </a:lvl1pPr>
          </a:lstStyle>
          <a:p>
            <a:pPr indent="0" marL="0">
              <a:buNone/>
            </a:pPr>
            <a:endParaRPr lang="en-US" sz="28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accent3"/>
                </a:solidFill>
              </a:rPr>
              <a:t>MedAI · Interpretable Thyroid Lesion Classification · Midterm Proposal</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57F"/>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rtlCol="0"/>
          <a:lstStyle>
            <a:lvl1pPr indent="0" marL="0">
              <a:buNone/>
              <a:defRPr lang="en-US" sz="3000" b="1" dirty="0">
                <a:solidFill>
                  <a:schemeClr val="bg1"/>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57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8-1.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card"/>
          <p:cNvSpPr/>
          <p:nvPr/>
        </p:nvSpPr>
        <p:spPr>
          <a:xfrm>
            <a:off x="548640" y="502920"/>
            <a:ext cx="2926080" cy="749808"/>
          </a:xfrm>
          <a:prstGeom prst="roundRect">
            <a:avLst>
              <a:gd name="adj" fmla="val 9756"/>
            </a:avLst>
          </a:prstGeom>
          <a:solidFill>
            <a:schemeClr val="bg1"/>
          </a:solidFill>
          <a:ln/>
        </p:spPr>
      </p:sp>
      <p:pic>
        <p:nvPicPr>
          <p:cNvPr id="3" name="CAU logo" descr="Central Asian University logo">    </p:cNvPr>
          <p:cNvPicPr>
            <a:picLocks noChangeAspect="1"/>
          </p:cNvPicPr>
          <p:nvPr/>
        </p:nvPicPr>
        <p:blipFill>
          <a:blip r:embed="rId1"/>
          <a:stretch>
            <a:fillRect/>
          </a:stretch>
        </p:blipFill>
        <p:spPr>
          <a:xfrm>
            <a:off x="731520" y="621792"/>
            <a:ext cx="2560320" cy="518686"/>
          </a:xfrm>
          <a:prstGeom prst="rect">
            <a:avLst/>
          </a:prstGeom>
        </p:spPr>
      </p:pic>
      <p:sp>
        <p:nvSpPr>
          <p:cNvPr id="4" name="Kicker"/>
          <p:cNvSpPr txBox="1"/>
          <p:nvPr/>
        </p:nvSpPr>
        <p:spPr>
          <a:xfrm>
            <a:off x="548640" y="1463040"/>
            <a:ext cx="6858000" cy="320040"/>
          </a:xfrm>
          <a:prstGeom prst="rect">
            <a:avLst/>
          </a:prstGeom>
          <a:noFill/>
          <a:ln/>
        </p:spPr>
        <p:txBody>
          <a:bodyPr wrap="square" lIns="0" tIns="0" rIns="0" bIns="0" rtlCol="0" anchor="t"/>
          <a:lstStyle/>
          <a:p>
            <a:pPr indent="0" marL="0">
              <a:buNone/>
            </a:pPr>
            <a:r>
              <a:rPr lang="en-US" sz="1400" b="1" spc="200" kern="0" dirty="0">
                <a:solidFill>
                  <a:schemeClr val="accent1"/>
                </a:solidFill>
              </a:rPr>
              <a:t>MIDTERM RESEARCH &amp; SOFTWARE PROJECT PROPOSAL</a:t>
            </a:r>
            <a:endParaRPr lang="en-US" sz="1400" dirty="0"/>
          </a:p>
        </p:txBody>
      </p:sp>
      <p:sp>
        <p:nvSpPr>
          <p:cNvPr id="5" name="Text 0"/>
          <p:cNvSpPr/>
          <p:nvPr>
            <p:ph idx="100" type="title" hasCustomPrompt="1"/>
          </p:nvPr>
        </p:nvSpPr>
        <p:spPr>
          <a:xfrm>
            <a:off x="548640" y="1874520"/>
            <a:ext cx="6858000" cy="2286000"/>
          </a:xfrm>
          <a:prstGeom prst="rect">
            <a:avLst/>
          </a:prstGeom>
          <a:noFill/>
          <a:ln/>
        </p:spPr>
        <p:txBody>
          <a:bodyPr wrap="square" lIns="0" tIns="0" rIns="0" bIns="0" rtlCol="0" anchor="t"/>
          <a:lstStyle/>
          <a:p>
            <a:pPr algn="l" indent="0" marL="0">
              <a:buNone/>
            </a:pPr>
            <a:r>
              <a:rPr lang="en-US" sz="3000" b="1" dirty="0">
                <a:solidFill>
                  <a:schemeClr val="bg1"/>
                </a:solidFill>
              </a:rPr>
              <a:t>Development and Evaluation of an Interpretable Deep Learning Pipeline for Thyroid Lesion Classification Using Cytological and Ultrasound Images</a:t>
            </a:r>
            <a:endParaRPr lang="en-US" sz="3000" dirty="0"/>
          </a:p>
        </p:txBody>
      </p:sp>
      <p:sp>
        <p:nvSpPr>
          <p:cNvPr id="6" name="Team details"/>
          <p:cNvSpPr txBox="1"/>
          <p:nvPr/>
        </p:nvSpPr>
        <p:spPr>
          <a:xfrm>
            <a:off x="548640" y="4434840"/>
            <a:ext cx="6858000" cy="1371600"/>
          </a:xfrm>
          <a:prstGeom prst="rect">
            <a:avLst/>
          </a:prstGeom>
          <a:noFill/>
          <a:ln/>
        </p:spPr>
        <p:txBody>
          <a:bodyPr wrap="square" lIns="0" tIns="0" rIns="0" bIns="0" rtlCol="0" anchor="t"/>
          <a:lstStyle/>
          <a:p>
            <a:pPr indent="0" marL="0">
              <a:spcAft>
                <a:spcPts val="400"/>
              </a:spcAft>
              <a:buNone/>
            </a:pPr>
            <a:r>
              <a:rPr lang="en-US" sz="1500" b="1" dirty="0">
                <a:solidFill>
                  <a:schemeClr val="bg2"/>
                </a:solidFill>
              </a:rPr>
              <a:t>Team MedAI</a:t>
            </a:r>
            <a:endParaRPr lang="en-US" sz="1500" dirty="0"/>
          </a:p>
          <a:p>
            <a:pPr indent="0" marL="0">
              <a:spcAft>
                <a:spcPts val="400"/>
              </a:spcAft>
              <a:buNone/>
            </a:pPr>
            <a:r>
              <a:rPr lang="en-US" sz="1500" dirty="0">
                <a:solidFill>
                  <a:schemeClr val="bg2"/>
                </a:solidFill>
              </a:rPr>
              <a:t>Usmanov Lazizbek (230405) · Team Lead, ML Engineer &amp; Researcher</a:t>
            </a:r>
            <a:endParaRPr lang="en-US" sz="1500" dirty="0"/>
          </a:p>
          <a:p>
            <a:pPr indent="0" marL="0">
              <a:spcAft>
                <a:spcPts val="400"/>
              </a:spcAft>
              <a:buNone/>
            </a:pPr>
            <a:r>
              <a:rPr lang="en-US" sz="1500" dirty="0">
                <a:solidFill>
                  <a:schemeClr val="bg2"/>
                </a:solidFill>
              </a:rPr>
              <a:t>Supervisor: Dr. Eugene Castro</a:t>
            </a:r>
            <a:endParaRPr lang="en-US" sz="1500" dirty="0"/>
          </a:p>
          <a:p>
            <a:pPr indent="0" marL="0">
              <a:spcAft>
                <a:spcPts val="400"/>
              </a:spcAft>
              <a:buNone/>
            </a:pPr>
            <a:r>
              <a:rPr lang="en-US" sz="1500" dirty="0">
                <a:solidFill>
                  <a:schemeClr val="bg2"/>
                </a:solidFill>
              </a:rPr>
              <a:t>4-SRC-10-804 Scientific Research and Communication · October 2026</a:t>
            </a:r>
            <a:endParaRPr lang="en-US" sz="1500" dirty="0"/>
          </a:p>
        </p:txBody>
      </p:sp>
      <p:pic>
        <p:nvPicPr>
          <p:cNvPr id="7" name="Ultrasound PTC" descr="Thyroid ultrasound image of a PTC patient">    </p:cNvPr>
          <p:cNvPicPr>
            <a:picLocks noChangeAspect="1"/>
          </p:cNvPicPr>
          <p:nvPr/>
        </p:nvPicPr>
        <p:blipFill>
          <a:blip r:embed="rId2"/>
          <a:stretch>
            <a:fillRect/>
          </a:stretch>
        </p:blipFill>
        <p:spPr>
          <a:xfrm>
            <a:off x="7818120" y="822960"/>
            <a:ext cx="1874520" cy="1874520"/>
          </a:xfrm>
          <a:prstGeom prst="rect">
            <a:avLst/>
          </a:prstGeom>
        </p:spPr>
      </p:pic>
      <p:pic>
        <p:nvPicPr>
          <p:cNvPr id="8" name="Cytology PTC 1" descr="Cytology patch, PTC">    </p:cNvPr>
          <p:cNvPicPr>
            <a:picLocks noChangeAspect="1"/>
          </p:cNvPicPr>
          <p:nvPr/>
        </p:nvPicPr>
        <p:blipFill>
          <a:blip r:embed="rId3"/>
          <a:stretch>
            <a:fillRect/>
          </a:stretch>
        </p:blipFill>
        <p:spPr>
          <a:xfrm>
            <a:off x="9829800" y="822960"/>
            <a:ext cx="1874520" cy="1874520"/>
          </a:xfrm>
          <a:prstGeom prst="rect">
            <a:avLst/>
          </a:prstGeom>
        </p:spPr>
      </p:pic>
      <p:pic>
        <p:nvPicPr>
          <p:cNvPr id="9" name="Ultrasound benign" descr="Thyroid ultrasound image of a benign patient">    </p:cNvPr>
          <p:cNvPicPr>
            <a:picLocks noChangeAspect="1"/>
          </p:cNvPicPr>
          <p:nvPr/>
        </p:nvPicPr>
        <p:blipFill>
          <a:blip r:embed="rId4"/>
          <a:stretch>
            <a:fillRect/>
          </a:stretch>
        </p:blipFill>
        <p:spPr>
          <a:xfrm>
            <a:off x="7818120" y="2834640"/>
            <a:ext cx="1874520" cy="1874520"/>
          </a:xfrm>
          <a:prstGeom prst="rect">
            <a:avLst/>
          </a:prstGeom>
        </p:spPr>
      </p:pic>
      <p:pic>
        <p:nvPicPr>
          <p:cNvPr id="10" name="Cytology benign" descr="Cytology patch, benign">    </p:cNvPr>
          <p:cNvPicPr>
            <a:picLocks noChangeAspect="1"/>
          </p:cNvPicPr>
          <p:nvPr/>
        </p:nvPicPr>
        <p:blipFill>
          <a:blip r:embed="rId5"/>
          <a:stretch>
            <a:fillRect/>
          </a:stretch>
        </p:blipFill>
        <p:spPr>
          <a:xfrm>
            <a:off x="9829800" y="2834640"/>
            <a:ext cx="1874520" cy="1874520"/>
          </a:xfrm>
          <a:prstGeom prst="rect">
            <a:avLst/>
          </a:prstGeom>
        </p:spPr>
      </p:pic>
      <p:sp>
        <p:nvSpPr>
          <p:cNvPr id="11" name="US label"/>
          <p:cNvSpPr txBox="1"/>
          <p:nvPr/>
        </p:nvSpPr>
        <p:spPr>
          <a:xfrm>
            <a:off x="7818120" y="4800600"/>
            <a:ext cx="1874520" cy="274320"/>
          </a:xfrm>
          <a:prstGeom prst="rect">
            <a:avLst/>
          </a:prstGeom>
          <a:noFill/>
          <a:ln/>
        </p:spPr>
        <p:txBody>
          <a:bodyPr wrap="square" lIns="0" tIns="0" rIns="0" bIns="0" rtlCol="0" anchor="t"/>
          <a:lstStyle/>
          <a:p>
            <a:pPr algn="ctr" indent="0" marL="0">
              <a:buNone/>
            </a:pPr>
            <a:r>
              <a:rPr lang="en-US" sz="1200" dirty="0">
                <a:solidFill>
                  <a:schemeClr val="bg2"/>
                </a:solidFill>
              </a:rPr>
              <a:t>Ultrasound</a:t>
            </a:r>
            <a:endParaRPr lang="en-US" sz="1200" dirty="0"/>
          </a:p>
        </p:txBody>
      </p:sp>
      <p:sp>
        <p:nvSpPr>
          <p:cNvPr id="12" name="Cyto label"/>
          <p:cNvSpPr txBox="1"/>
          <p:nvPr/>
        </p:nvSpPr>
        <p:spPr>
          <a:xfrm>
            <a:off x="9829800" y="4800600"/>
            <a:ext cx="1874520" cy="274320"/>
          </a:xfrm>
          <a:prstGeom prst="rect">
            <a:avLst/>
          </a:prstGeom>
          <a:noFill/>
          <a:ln/>
        </p:spPr>
        <p:txBody>
          <a:bodyPr wrap="square" lIns="0" tIns="0" rIns="0" bIns="0" rtlCol="0" anchor="t"/>
          <a:lstStyle/>
          <a:p>
            <a:pPr algn="ctr" indent="0" marL="0">
              <a:buNone/>
            </a:pPr>
            <a:r>
              <a:rPr lang="en-US" sz="1200" dirty="0">
                <a:solidFill>
                  <a:schemeClr val="bg2"/>
                </a:solidFill>
              </a:rPr>
              <a:t>Cytology (FNA)</a:t>
            </a:r>
            <a:endParaRPr lang="en-US" sz="1200" dirty="0"/>
          </a:p>
        </p:txBody>
      </p:sp>
      <p:sp>
        <p:nvSpPr>
          <p:cNvPr id="13" name="Fusion tag"/>
          <p:cNvSpPr/>
          <p:nvPr/>
        </p:nvSpPr>
        <p:spPr>
          <a:xfrm>
            <a:off x="7818120" y="5257800"/>
            <a:ext cx="3886200" cy="566928"/>
          </a:xfrm>
          <a:prstGeom prst="roundRect">
            <a:avLst>
              <a:gd name="adj" fmla="val 12903"/>
            </a:avLst>
          </a:prstGeom>
          <a:solidFill>
            <a:schemeClr val="accent1"/>
          </a:solidFill>
          <a:ln/>
        </p:spPr>
      </p:sp>
      <p:sp>
        <p:nvSpPr>
          <p:cNvPr id="14" name="Fusion tag text"/>
          <p:cNvSpPr txBox="1"/>
          <p:nvPr/>
        </p:nvSpPr>
        <p:spPr>
          <a:xfrm>
            <a:off x="7818120" y="5257800"/>
            <a:ext cx="3886200" cy="566928"/>
          </a:xfrm>
          <a:prstGeom prst="rect">
            <a:avLst/>
          </a:prstGeom>
          <a:noFill/>
          <a:ln/>
        </p:spPr>
        <p:txBody>
          <a:bodyPr wrap="square" lIns="0" tIns="0" rIns="0" bIns="0" rtlCol="0" anchor="ctr"/>
          <a:lstStyle/>
          <a:p>
            <a:pPr algn="ctr" indent="0" marL="0">
              <a:buNone/>
            </a:pPr>
            <a:r>
              <a:rPr lang="en-US" sz="1400" b="1" dirty="0">
                <a:solidFill>
                  <a:schemeClr val="bg1"/>
                </a:solidFill>
              </a:rPr>
              <a:t>One patient → one fused prediction: P(PTC) = 0.912</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2800" b="1" dirty="0">
                <a:solidFill>
                  <a:schemeClr val="tx2"/>
                </a:solidFill>
              </a:rPr>
              <a:t>Context: two examinations, two specialists — no shared model</a:t>
            </a:r>
            <a:endParaRPr lang="en-US" sz="2800" dirty="0"/>
          </a:p>
        </p:txBody>
      </p:sp>
      <p:sp>
        <p:nvSpPr>
          <p:cNvPr id="3" name="Step 1 card"/>
          <p:cNvSpPr/>
          <p:nvPr/>
        </p:nvSpPr>
        <p:spPr>
          <a:xfrm>
            <a:off x="548640" y="1280160"/>
            <a:ext cx="2587752" cy="2331720"/>
          </a:xfrm>
          <a:prstGeom prst="roundRect">
            <a:avLst>
              <a:gd name="adj" fmla="val 3137"/>
            </a:avLst>
          </a:prstGeom>
          <a:solidFill>
            <a:schemeClr val="bg2"/>
          </a:solidFill>
          <a:ln/>
        </p:spPr>
      </p:sp>
      <p:pic>
        <p:nvPicPr>
          <p:cNvPr id="4" name="Step 1 image" descr="Ultrasound imaging">    </p:cNvPr>
          <p:cNvPicPr>
            <a:picLocks noChangeAspect="1"/>
          </p:cNvPicPr>
          <p:nvPr/>
        </p:nvPicPr>
        <p:blipFill>
          <a:blip r:embed="rId1"/>
          <a:stretch>
            <a:fillRect/>
          </a:stretch>
        </p:blipFill>
        <p:spPr>
          <a:xfrm>
            <a:off x="731520" y="1463040"/>
            <a:ext cx="1143000" cy="1143000"/>
          </a:xfrm>
          <a:prstGeom prst="rect">
            <a:avLst/>
          </a:prstGeom>
        </p:spPr>
      </p:pic>
      <p:sp>
        <p:nvSpPr>
          <p:cNvPr id="5" name="Step 1 number"/>
          <p:cNvSpPr txBox="1"/>
          <p:nvPr/>
        </p:nvSpPr>
        <p:spPr>
          <a:xfrm>
            <a:off x="2450592" y="1463040"/>
            <a:ext cx="502920" cy="548640"/>
          </a:xfrm>
          <a:prstGeom prst="rect">
            <a:avLst/>
          </a:prstGeom>
          <a:noFill/>
          <a:ln/>
        </p:spPr>
        <p:txBody>
          <a:bodyPr wrap="square" lIns="0" tIns="0" rIns="0" bIns="0" rtlCol="0" anchor="t"/>
          <a:lstStyle/>
          <a:p>
            <a:pPr algn="r" indent="0" marL="0">
              <a:buNone/>
            </a:pPr>
            <a:r>
              <a:rPr lang="en-US" sz="3000" b="1" dirty="0">
                <a:solidFill>
                  <a:schemeClr val="accent3"/>
                </a:solidFill>
              </a:rPr>
              <a:t>1</a:t>
            </a:r>
            <a:endParaRPr lang="en-US" sz="3000" dirty="0"/>
          </a:p>
        </p:txBody>
      </p:sp>
      <p:sp>
        <p:nvSpPr>
          <p:cNvPr id="6" name="Step 1 title"/>
          <p:cNvSpPr txBox="1"/>
          <p:nvPr/>
        </p:nvSpPr>
        <p:spPr>
          <a:xfrm>
            <a:off x="731520" y="2743200"/>
            <a:ext cx="2221992" cy="365760"/>
          </a:xfrm>
          <a:prstGeom prst="rect">
            <a:avLst/>
          </a:prstGeom>
          <a:noFill/>
          <a:ln/>
        </p:spPr>
        <p:txBody>
          <a:bodyPr wrap="square" lIns="0" tIns="0" rIns="0" bIns="0" rtlCol="0" anchor="t"/>
          <a:lstStyle/>
          <a:p>
            <a:pPr indent="0" marL="0">
              <a:buNone/>
            </a:pPr>
            <a:r>
              <a:rPr lang="en-US" sz="1600" b="1" dirty="0">
                <a:solidFill>
                  <a:schemeClr val="tx2"/>
                </a:solidFill>
              </a:rPr>
              <a:t>Ultrasound imaging</a:t>
            </a:r>
            <a:endParaRPr lang="en-US" sz="1600" dirty="0"/>
          </a:p>
        </p:txBody>
      </p:sp>
      <p:sp>
        <p:nvSpPr>
          <p:cNvPr id="7" name="Step 1 desc"/>
          <p:cNvSpPr txBox="1"/>
          <p:nvPr/>
        </p:nvSpPr>
        <p:spPr>
          <a:xfrm>
            <a:off x="731520" y="3108960"/>
            <a:ext cx="2221992" cy="365760"/>
          </a:xfrm>
          <a:prstGeom prst="rect">
            <a:avLst/>
          </a:prstGeom>
          <a:noFill/>
          <a:ln/>
        </p:spPr>
        <p:txBody>
          <a:bodyPr wrap="square" lIns="0" tIns="0" rIns="0" bIns="0" rtlCol="0" anchor="t"/>
          <a:lstStyle/>
          <a:p>
            <a:pPr indent="0" marL="0">
              <a:buNone/>
            </a:pPr>
            <a:r>
              <a:rPr lang="en-US" sz="1300" dirty="0">
                <a:solidFill>
                  <a:schemeClr val="accent3"/>
                </a:solidFill>
              </a:rPr>
              <a:t>Radiologist views the nodule</a:t>
            </a:r>
            <a:endParaRPr lang="en-US" sz="1300" dirty="0"/>
          </a:p>
        </p:txBody>
      </p:sp>
      <p:sp>
        <p:nvSpPr>
          <p:cNvPr id="8" name="Arrow 0"/>
          <p:cNvSpPr/>
          <p:nvPr/>
        </p:nvSpPr>
        <p:spPr>
          <a:xfrm>
            <a:off x="3182112" y="2308860"/>
            <a:ext cx="146304" cy="274320"/>
          </a:xfrm>
          <a:prstGeom prst="chevron">
            <a:avLst/>
          </a:prstGeom>
          <a:solidFill>
            <a:schemeClr val="accent3"/>
          </a:solidFill>
          <a:ln/>
        </p:spPr>
      </p:sp>
      <p:sp>
        <p:nvSpPr>
          <p:cNvPr id="9" name="Step 2 card"/>
          <p:cNvSpPr/>
          <p:nvPr/>
        </p:nvSpPr>
        <p:spPr>
          <a:xfrm>
            <a:off x="3374136" y="1280160"/>
            <a:ext cx="2587752" cy="2331720"/>
          </a:xfrm>
          <a:prstGeom prst="roundRect">
            <a:avLst>
              <a:gd name="adj" fmla="val 3137"/>
            </a:avLst>
          </a:prstGeom>
          <a:solidFill>
            <a:schemeClr val="bg2"/>
          </a:solidFill>
          <a:ln/>
        </p:spPr>
      </p:sp>
      <p:sp>
        <p:nvSpPr>
          <p:cNvPr id="10" name="Step 2 circle"/>
          <p:cNvSpPr/>
          <p:nvPr/>
        </p:nvSpPr>
        <p:spPr>
          <a:xfrm>
            <a:off x="3648456" y="1554480"/>
            <a:ext cx="960120" cy="960120"/>
          </a:xfrm>
          <a:prstGeom prst="ellipse">
            <a:avLst/>
          </a:prstGeom>
          <a:solidFill>
            <a:schemeClr val="accent3"/>
          </a:solidFill>
          <a:ln/>
        </p:spPr>
      </p:sp>
      <p:pic>
        <p:nvPicPr>
          <p:cNvPr id="11" name="Step 2 icon" descr="preencoded.png">    </p:cNvPr>
          <p:cNvPicPr>
            <a:picLocks noChangeAspect="1"/>
          </p:cNvPicPr>
          <p:nvPr/>
        </p:nvPicPr>
        <p:blipFill>
          <a:blip r:embed="rId2"/>
          <a:stretch>
            <a:fillRect/>
          </a:stretch>
        </p:blipFill>
        <p:spPr>
          <a:xfrm>
            <a:off x="3898087" y="1804111"/>
            <a:ext cx="460858" cy="460858"/>
          </a:xfrm>
          <a:prstGeom prst="rect">
            <a:avLst/>
          </a:prstGeom>
        </p:spPr>
      </p:pic>
      <p:sp>
        <p:nvSpPr>
          <p:cNvPr id="12" name="Step 2 number"/>
          <p:cNvSpPr txBox="1"/>
          <p:nvPr/>
        </p:nvSpPr>
        <p:spPr>
          <a:xfrm>
            <a:off x="5276088" y="1463040"/>
            <a:ext cx="502920" cy="548640"/>
          </a:xfrm>
          <a:prstGeom prst="rect">
            <a:avLst/>
          </a:prstGeom>
          <a:noFill/>
          <a:ln/>
        </p:spPr>
        <p:txBody>
          <a:bodyPr wrap="square" lIns="0" tIns="0" rIns="0" bIns="0" rtlCol="0" anchor="t"/>
          <a:lstStyle/>
          <a:p>
            <a:pPr algn="r" indent="0" marL="0">
              <a:buNone/>
            </a:pPr>
            <a:r>
              <a:rPr lang="en-US" sz="3000" b="1" dirty="0">
                <a:solidFill>
                  <a:schemeClr val="accent3"/>
                </a:solidFill>
              </a:rPr>
              <a:t>2</a:t>
            </a:r>
            <a:endParaRPr lang="en-US" sz="3000" dirty="0"/>
          </a:p>
        </p:txBody>
      </p:sp>
      <p:sp>
        <p:nvSpPr>
          <p:cNvPr id="13" name="Step 2 title"/>
          <p:cNvSpPr txBox="1"/>
          <p:nvPr/>
        </p:nvSpPr>
        <p:spPr>
          <a:xfrm>
            <a:off x="3557016" y="2743200"/>
            <a:ext cx="2221992" cy="365760"/>
          </a:xfrm>
          <a:prstGeom prst="rect">
            <a:avLst/>
          </a:prstGeom>
          <a:noFill/>
          <a:ln/>
        </p:spPr>
        <p:txBody>
          <a:bodyPr wrap="square" lIns="0" tIns="0" rIns="0" bIns="0" rtlCol="0" anchor="t"/>
          <a:lstStyle/>
          <a:p>
            <a:pPr indent="0" marL="0">
              <a:buNone/>
            </a:pPr>
            <a:r>
              <a:rPr lang="en-US" sz="1600" b="1" dirty="0">
                <a:solidFill>
                  <a:schemeClr val="tx2"/>
                </a:solidFill>
              </a:rPr>
              <a:t>ACR TI-RADS score</a:t>
            </a:r>
            <a:endParaRPr lang="en-US" sz="1600" dirty="0"/>
          </a:p>
        </p:txBody>
      </p:sp>
      <p:sp>
        <p:nvSpPr>
          <p:cNvPr id="14" name="Step 2 desc"/>
          <p:cNvSpPr txBox="1"/>
          <p:nvPr/>
        </p:nvSpPr>
        <p:spPr>
          <a:xfrm>
            <a:off x="3557016" y="3108960"/>
            <a:ext cx="2221992" cy="365760"/>
          </a:xfrm>
          <a:prstGeom prst="rect">
            <a:avLst/>
          </a:prstGeom>
          <a:noFill/>
          <a:ln/>
        </p:spPr>
        <p:txBody>
          <a:bodyPr wrap="square" lIns="0" tIns="0" rIns="0" bIns="0" rtlCol="0" anchor="t"/>
          <a:lstStyle/>
          <a:p>
            <a:pPr indent="0" marL="0">
              <a:buNone/>
            </a:pPr>
            <a:r>
              <a:rPr lang="en-US" sz="1300" dirty="0">
                <a:solidFill>
                  <a:schemeClr val="accent3"/>
                </a:solidFill>
              </a:rPr>
              <a:t>Rule-based risk category</a:t>
            </a:r>
            <a:endParaRPr lang="en-US" sz="1300" dirty="0"/>
          </a:p>
        </p:txBody>
      </p:sp>
      <p:sp>
        <p:nvSpPr>
          <p:cNvPr id="15" name="Arrow 1"/>
          <p:cNvSpPr/>
          <p:nvPr/>
        </p:nvSpPr>
        <p:spPr>
          <a:xfrm>
            <a:off x="6007608" y="2308860"/>
            <a:ext cx="146304" cy="274320"/>
          </a:xfrm>
          <a:prstGeom prst="chevron">
            <a:avLst/>
          </a:prstGeom>
          <a:solidFill>
            <a:schemeClr val="accent3"/>
          </a:solidFill>
          <a:ln/>
        </p:spPr>
      </p:sp>
      <p:sp>
        <p:nvSpPr>
          <p:cNvPr id="16" name="Step 3 card"/>
          <p:cNvSpPr/>
          <p:nvPr/>
        </p:nvSpPr>
        <p:spPr>
          <a:xfrm>
            <a:off x="6199632" y="1280160"/>
            <a:ext cx="2587752" cy="2331720"/>
          </a:xfrm>
          <a:prstGeom prst="roundRect">
            <a:avLst>
              <a:gd name="adj" fmla="val 3137"/>
            </a:avLst>
          </a:prstGeom>
          <a:solidFill>
            <a:schemeClr val="bg2"/>
          </a:solidFill>
          <a:ln/>
        </p:spPr>
      </p:sp>
      <p:pic>
        <p:nvPicPr>
          <p:cNvPr id="17" name="Step 3 image" descr="FNA cytology">    </p:cNvPr>
          <p:cNvPicPr>
            <a:picLocks noChangeAspect="1"/>
          </p:cNvPicPr>
          <p:nvPr/>
        </p:nvPicPr>
        <p:blipFill>
          <a:blip r:embed="rId3"/>
          <a:stretch>
            <a:fillRect/>
          </a:stretch>
        </p:blipFill>
        <p:spPr>
          <a:xfrm>
            <a:off x="6382512" y="1463040"/>
            <a:ext cx="1143000" cy="1143000"/>
          </a:xfrm>
          <a:prstGeom prst="rect">
            <a:avLst/>
          </a:prstGeom>
        </p:spPr>
      </p:pic>
      <p:sp>
        <p:nvSpPr>
          <p:cNvPr id="18" name="Step 3 number"/>
          <p:cNvSpPr txBox="1"/>
          <p:nvPr/>
        </p:nvSpPr>
        <p:spPr>
          <a:xfrm>
            <a:off x="8101584" y="1463040"/>
            <a:ext cx="502920" cy="548640"/>
          </a:xfrm>
          <a:prstGeom prst="rect">
            <a:avLst/>
          </a:prstGeom>
          <a:noFill/>
          <a:ln/>
        </p:spPr>
        <p:txBody>
          <a:bodyPr wrap="square" lIns="0" tIns="0" rIns="0" bIns="0" rtlCol="0" anchor="t"/>
          <a:lstStyle/>
          <a:p>
            <a:pPr algn="r" indent="0" marL="0">
              <a:buNone/>
            </a:pPr>
            <a:r>
              <a:rPr lang="en-US" sz="3000" b="1" dirty="0">
                <a:solidFill>
                  <a:schemeClr val="accent2"/>
                </a:solidFill>
              </a:rPr>
              <a:t>3</a:t>
            </a:r>
            <a:endParaRPr lang="en-US" sz="3000" dirty="0"/>
          </a:p>
        </p:txBody>
      </p:sp>
      <p:sp>
        <p:nvSpPr>
          <p:cNvPr id="19" name="Step 3 title"/>
          <p:cNvSpPr txBox="1"/>
          <p:nvPr/>
        </p:nvSpPr>
        <p:spPr>
          <a:xfrm>
            <a:off x="6382512" y="2743200"/>
            <a:ext cx="2221992" cy="365760"/>
          </a:xfrm>
          <a:prstGeom prst="rect">
            <a:avLst/>
          </a:prstGeom>
          <a:noFill/>
          <a:ln/>
        </p:spPr>
        <p:txBody>
          <a:bodyPr wrap="square" lIns="0" tIns="0" rIns="0" bIns="0" rtlCol="0" anchor="t"/>
          <a:lstStyle/>
          <a:p>
            <a:pPr indent="0" marL="0">
              <a:buNone/>
            </a:pPr>
            <a:r>
              <a:rPr lang="en-US" sz="1600" b="1" dirty="0">
                <a:solidFill>
                  <a:schemeClr val="tx2"/>
                </a:solidFill>
              </a:rPr>
              <a:t>FNA cytology</a:t>
            </a:r>
            <a:endParaRPr lang="en-US" sz="1600" dirty="0"/>
          </a:p>
        </p:txBody>
      </p:sp>
      <p:sp>
        <p:nvSpPr>
          <p:cNvPr id="20" name="Step 3 desc"/>
          <p:cNvSpPr txBox="1"/>
          <p:nvPr/>
        </p:nvSpPr>
        <p:spPr>
          <a:xfrm>
            <a:off x="6382512" y="3108960"/>
            <a:ext cx="2221992" cy="365760"/>
          </a:xfrm>
          <a:prstGeom prst="rect">
            <a:avLst/>
          </a:prstGeom>
          <a:noFill/>
          <a:ln/>
        </p:spPr>
        <p:txBody>
          <a:bodyPr wrap="square" lIns="0" tIns="0" rIns="0" bIns="0" rtlCol="0" anchor="t"/>
          <a:lstStyle/>
          <a:p>
            <a:pPr indent="0" marL="0">
              <a:buNone/>
            </a:pPr>
            <a:r>
              <a:rPr lang="en-US" sz="1300" dirty="0">
                <a:solidFill>
                  <a:schemeClr val="accent3"/>
                </a:solidFill>
              </a:rPr>
              <a:t>Cells aspirated and stained</a:t>
            </a:r>
            <a:endParaRPr lang="en-US" sz="1300" dirty="0"/>
          </a:p>
        </p:txBody>
      </p:sp>
      <p:sp>
        <p:nvSpPr>
          <p:cNvPr id="21" name="Arrow 2"/>
          <p:cNvSpPr/>
          <p:nvPr/>
        </p:nvSpPr>
        <p:spPr>
          <a:xfrm>
            <a:off x="8833104" y="2308860"/>
            <a:ext cx="146304" cy="274320"/>
          </a:xfrm>
          <a:prstGeom prst="chevron">
            <a:avLst/>
          </a:prstGeom>
          <a:solidFill>
            <a:schemeClr val="accent3"/>
          </a:solidFill>
          <a:ln/>
        </p:spPr>
      </p:sp>
      <p:sp>
        <p:nvSpPr>
          <p:cNvPr id="22" name="Step 4 card"/>
          <p:cNvSpPr/>
          <p:nvPr/>
        </p:nvSpPr>
        <p:spPr>
          <a:xfrm>
            <a:off x="9025128" y="1280160"/>
            <a:ext cx="2587752" cy="2331720"/>
          </a:xfrm>
          <a:prstGeom prst="roundRect">
            <a:avLst>
              <a:gd name="adj" fmla="val 3137"/>
            </a:avLst>
          </a:prstGeom>
          <a:solidFill>
            <a:schemeClr val="bg2"/>
          </a:solidFill>
          <a:ln/>
        </p:spPr>
      </p:sp>
      <p:sp>
        <p:nvSpPr>
          <p:cNvPr id="23" name="Step 4 circle"/>
          <p:cNvSpPr/>
          <p:nvPr/>
        </p:nvSpPr>
        <p:spPr>
          <a:xfrm>
            <a:off x="9299448" y="1554480"/>
            <a:ext cx="960120" cy="960120"/>
          </a:xfrm>
          <a:prstGeom prst="ellipse">
            <a:avLst/>
          </a:prstGeom>
          <a:solidFill>
            <a:schemeClr val="accent2"/>
          </a:solidFill>
          <a:ln/>
        </p:spPr>
      </p:sp>
      <p:pic>
        <p:nvPicPr>
          <p:cNvPr id="24" name="Step 4 icon" descr="preencoded.png">    </p:cNvPr>
          <p:cNvPicPr>
            <a:picLocks noChangeAspect="1"/>
          </p:cNvPicPr>
          <p:nvPr/>
        </p:nvPicPr>
        <p:blipFill>
          <a:blip r:embed="rId4"/>
          <a:stretch>
            <a:fillRect/>
          </a:stretch>
        </p:blipFill>
        <p:spPr>
          <a:xfrm>
            <a:off x="9549079" y="1804111"/>
            <a:ext cx="460858" cy="460858"/>
          </a:xfrm>
          <a:prstGeom prst="rect">
            <a:avLst/>
          </a:prstGeom>
        </p:spPr>
      </p:pic>
      <p:sp>
        <p:nvSpPr>
          <p:cNvPr id="25" name="Step 4 number"/>
          <p:cNvSpPr txBox="1"/>
          <p:nvPr/>
        </p:nvSpPr>
        <p:spPr>
          <a:xfrm>
            <a:off x="10927080" y="1463040"/>
            <a:ext cx="502920" cy="548640"/>
          </a:xfrm>
          <a:prstGeom prst="rect">
            <a:avLst/>
          </a:prstGeom>
          <a:noFill/>
          <a:ln/>
        </p:spPr>
        <p:txBody>
          <a:bodyPr wrap="square" lIns="0" tIns="0" rIns="0" bIns="0" rtlCol="0" anchor="t"/>
          <a:lstStyle/>
          <a:p>
            <a:pPr algn="r" indent="0" marL="0">
              <a:buNone/>
            </a:pPr>
            <a:r>
              <a:rPr lang="en-US" sz="3000" b="1" dirty="0">
                <a:solidFill>
                  <a:schemeClr val="accent2"/>
                </a:solidFill>
              </a:rPr>
              <a:t>4</a:t>
            </a:r>
            <a:endParaRPr lang="en-US" sz="3000" dirty="0"/>
          </a:p>
        </p:txBody>
      </p:sp>
      <p:sp>
        <p:nvSpPr>
          <p:cNvPr id="26" name="Step 4 title"/>
          <p:cNvSpPr txBox="1"/>
          <p:nvPr/>
        </p:nvSpPr>
        <p:spPr>
          <a:xfrm>
            <a:off x="9208008" y="2743200"/>
            <a:ext cx="2221992" cy="365760"/>
          </a:xfrm>
          <a:prstGeom prst="rect">
            <a:avLst/>
          </a:prstGeom>
          <a:noFill/>
          <a:ln/>
        </p:spPr>
        <p:txBody>
          <a:bodyPr wrap="square" lIns="0" tIns="0" rIns="0" bIns="0" rtlCol="0" anchor="t"/>
          <a:lstStyle/>
          <a:p>
            <a:pPr indent="0" marL="0">
              <a:buNone/>
            </a:pPr>
            <a:r>
              <a:rPr lang="en-US" sz="1600" b="1" dirty="0">
                <a:solidFill>
                  <a:schemeClr val="tx2"/>
                </a:solidFill>
              </a:rPr>
              <a:t>Bethesda category</a:t>
            </a:r>
            <a:endParaRPr lang="en-US" sz="1600" dirty="0"/>
          </a:p>
        </p:txBody>
      </p:sp>
      <p:sp>
        <p:nvSpPr>
          <p:cNvPr id="27" name="Step 4 desc"/>
          <p:cNvSpPr txBox="1"/>
          <p:nvPr/>
        </p:nvSpPr>
        <p:spPr>
          <a:xfrm>
            <a:off x="9208008" y="3108960"/>
            <a:ext cx="2221992" cy="365760"/>
          </a:xfrm>
          <a:prstGeom prst="rect">
            <a:avLst/>
          </a:prstGeom>
          <a:noFill/>
          <a:ln/>
        </p:spPr>
        <p:txBody>
          <a:bodyPr wrap="square" lIns="0" tIns="0" rIns="0" bIns="0" rtlCol="0" anchor="t"/>
          <a:lstStyle/>
          <a:p>
            <a:pPr indent="0" marL="0">
              <a:buNone/>
            </a:pPr>
            <a:r>
              <a:rPr lang="en-US" sz="1300" dirty="0">
                <a:solidFill>
                  <a:schemeClr val="accent3"/>
                </a:solidFill>
              </a:rPr>
              <a:t>Cytopathologist report, 6 tiers</a:t>
            </a:r>
            <a:endParaRPr lang="en-US" sz="1300" dirty="0"/>
          </a:p>
        </p:txBody>
      </p:sp>
      <p:sp>
        <p:nvSpPr>
          <p:cNvPr id="28" name="AI header"/>
          <p:cNvSpPr txBox="1"/>
          <p:nvPr/>
        </p:nvSpPr>
        <p:spPr>
          <a:xfrm>
            <a:off x="548640" y="3840480"/>
            <a:ext cx="5486400" cy="274320"/>
          </a:xfrm>
          <a:prstGeom prst="rect">
            <a:avLst/>
          </a:prstGeom>
          <a:noFill/>
          <a:ln/>
        </p:spPr>
        <p:txBody>
          <a:bodyPr wrap="square" lIns="0" tIns="0" rIns="0" bIns="0" rtlCol="0" anchor="t"/>
          <a:lstStyle/>
          <a:p>
            <a:pPr indent="0" marL="0">
              <a:buNone/>
            </a:pPr>
            <a:r>
              <a:rPr lang="en-US" sz="1200" b="1" spc="150" kern="0" dirty="0">
                <a:solidFill>
                  <a:schemeClr val="accent3"/>
                </a:solidFill>
              </a:rPr>
              <a:t>WHERE AI STANDS TODAY</a:t>
            </a:r>
            <a:endParaRPr lang="en-US" sz="1200" dirty="0"/>
          </a:p>
        </p:txBody>
      </p:sp>
      <p:sp>
        <p:nvSpPr>
          <p:cNvPr id="29" name="Stat 0 card"/>
          <p:cNvSpPr/>
          <p:nvPr/>
        </p:nvSpPr>
        <p:spPr>
          <a:xfrm>
            <a:off x="548640" y="4206240"/>
            <a:ext cx="2587752" cy="1965960"/>
          </a:xfrm>
          <a:prstGeom prst="roundRect">
            <a:avLst>
              <a:gd name="adj" fmla="val 3721"/>
            </a:avLst>
          </a:prstGeom>
          <a:solidFill>
            <a:schemeClr val="bg1"/>
          </a:solidFill>
          <a:ln/>
          <a:effectLst>
            <a:outerShdw sx="100000" sy="100000" kx="0" ky="0" algn="bl" rotWithShape="0" blurRad="101600" dist="25400" dir="5400000">
              <a:srgbClr val="1B2A4A">
                <a:alpha val="12000"/>
              </a:srgbClr>
            </a:outerShdw>
          </a:effectLst>
        </p:spPr>
      </p:sp>
      <p:sp>
        <p:nvSpPr>
          <p:cNvPr id="30" name="Stat 0 value"/>
          <p:cNvSpPr txBox="1"/>
          <p:nvPr/>
        </p:nvSpPr>
        <p:spPr>
          <a:xfrm>
            <a:off x="731520" y="4315968"/>
            <a:ext cx="2221992" cy="640080"/>
          </a:xfrm>
          <a:prstGeom prst="rect">
            <a:avLst/>
          </a:prstGeom>
          <a:noFill/>
          <a:ln/>
        </p:spPr>
        <p:txBody>
          <a:bodyPr wrap="square" lIns="0" tIns="0" rIns="0" bIns="0" rtlCol="0" anchor="t"/>
          <a:lstStyle/>
          <a:p>
            <a:pPr indent="0" marL="0">
              <a:buNone/>
            </a:pPr>
            <a:r>
              <a:rPr lang="en-US" sz="3200" b="1" dirty="0">
                <a:solidFill>
                  <a:schemeClr val="accent1"/>
                </a:solidFill>
              </a:rPr>
              <a:t>0.91–0.95</a:t>
            </a:r>
            <a:endParaRPr lang="en-US" sz="3200" dirty="0"/>
          </a:p>
        </p:txBody>
      </p:sp>
      <p:sp>
        <p:nvSpPr>
          <p:cNvPr id="31" name="Stat 0 desc"/>
          <p:cNvSpPr txBox="1"/>
          <p:nvPr/>
        </p:nvSpPr>
        <p:spPr>
          <a:xfrm>
            <a:off x="731520" y="4983480"/>
            <a:ext cx="2221992" cy="1097280"/>
          </a:xfrm>
          <a:prstGeom prst="rect">
            <a:avLst/>
          </a:prstGeom>
          <a:noFill/>
          <a:ln/>
        </p:spPr>
        <p:txBody>
          <a:bodyPr wrap="square" lIns="0" tIns="0" rIns="0" bIns="0" rtlCol="0" anchor="t"/>
          <a:lstStyle/>
          <a:p>
            <a:pPr indent="0" marL="0">
              <a:buNone/>
            </a:pPr>
            <a:r>
              <a:rPr lang="en-US" sz="1300" dirty="0">
                <a:solidFill>
                  <a:schemeClr val="tx1"/>
                </a:solidFill>
              </a:rPr>
              <a:t>AUROC of ultrasound-only CNNs trained on 131k images (Li et al., 2019)</a:t>
            </a:r>
            <a:endParaRPr lang="en-US" sz="1300" dirty="0"/>
          </a:p>
        </p:txBody>
      </p:sp>
      <p:sp>
        <p:nvSpPr>
          <p:cNvPr id="32" name="Stat 1 card"/>
          <p:cNvSpPr/>
          <p:nvPr/>
        </p:nvSpPr>
        <p:spPr>
          <a:xfrm>
            <a:off x="3374136" y="4206240"/>
            <a:ext cx="2587752" cy="1965960"/>
          </a:xfrm>
          <a:prstGeom prst="roundRect">
            <a:avLst>
              <a:gd name="adj" fmla="val 3721"/>
            </a:avLst>
          </a:prstGeom>
          <a:solidFill>
            <a:schemeClr val="bg1"/>
          </a:solidFill>
          <a:ln/>
          <a:effectLst>
            <a:outerShdw sx="100000" sy="100000" kx="0" ky="0" algn="bl" rotWithShape="0" blurRad="101600" dist="25400" dir="5400000">
              <a:srgbClr val="1B2A4A">
                <a:alpha val="12000"/>
              </a:srgbClr>
            </a:outerShdw>
          </a:effectLst>
        </p:spPr>
      </p:sp>
      <p:sp>
        <p:nvSpPr>
          <p:cNvPr id="33" name="Stat 1 value"/>
          <p:cNvSpPr txBox="1"/>
          <p:nvPr/>
        </p:nvSpPr>
        <p:spPr>
          <a:xfrm>
            <a:off x="3557016" y="4315968"/>
            <a:ext cx="2221992" cy="640080"/>
          </a:xfrm>
          <a:prstGeom prst="rect">
            <a:avLst/>
          </a:prstGeom>
          <a:noFill/>
          <a:ln/>
        </p:spPr>
        <p:txBody>
          <a:bodyPr wrap="square" lIns="0" tIns="0" rIns="0" bIns="0" rtlCol="0" anchor="t"/>
          <a:lstStyle/>
          <a:p>
            <a:pPr indent="0" marL="0">
              <a:buNone/>
            </a:pPr>
            <a:r>
              <a:rPr lang="en-US" sz="3200" b="1" dirty="0">
                <a:solidFill>
                  <a:schemeClr val="accent1"/>
                </a:solidFill>
              </a:rPr>
              <a:t>0.932</a:t>
            </a:r>
            <a:endParaRPr lang="en-US" sz="3200" dirty="0"/>
          </a:p>
        </p:txBody>
      </p:sp>
      <p:sp>
        <p:nvSpPr>
          <p:cNvPr id="34" name="Stat 1 desc"/>
          <p:cNvSpPr txBox="1"/>
          <p:nvPr/>
        </p:nvSpPr>
        <p:spPr>
          <a:xfrm>
            <a:off x="3557016" y="4983480"/>
            <a:ext cx="2221992" cy="1097280"/>
          </a:xfrm>
          <a:prstGeom prst="rect">
            <a:avLst/>
          </a:prstGeom>
          <a:noFill/>
          <a:ln/>
        </p:spPr>
        <p:txBody>
          <a:bodyPr wrap="square" lIns="0" tIns="0" rIns="0" bIns="0" rtlCol="0" anchor="t"/>
          <a:lstStyle/>
          <a:p>
            <a:pPr indent="0" marL="0">
              <a:buNone/>
            </a:pPr>
            <a:r>
              <a:rPr lang="en-US" sz="1300" dirty="0">
                <a:solidFill>
                  <a:schemeClr val="tx1"/>
                </a:solidFill>
              </a:rPr>
              <a:t>AUROC of an ML model on whole-slide FNA cytology, 908 cases (Elliott Range et al., 2020)</a:t>
            </a:r>
            <a:endParaRPr lang="en-US" sz="1300" dirty="0"/>
          </a:p>
        </p:txBody>
      </p:sp>
      <p:sp>
        <p:nvSpPr>
          <p:cNvPr id="35" name="Stat 2 card"/>
          <p:cNvSpPr/>
          <p:nvPr/>
        </p:nvSpPr>
        <p:spPr>
          <a:xfrm>
            <a:off x="6199632" y="4206240"/>
            <a:ext cx="2587752" cy="1965960"/>
          </a:xfrm>
          <a:prstGeom prst="roundRect">
            <a:avLst>
              <a:gd name="adj" fmla="val 3721"/>
            </a:avLst>
          </a:prstGeom>
          <a:solidFill>
            <a:schemeClr val="bg1"/>
          </a:solidFill>
          <a:ln/>
          <a:effectLst>
            <a:outerShdw sx="100000" sy="100000" kx="0" ky="0" algn="bl" rotWithShape="0" blurRad="101600" dist="25400" dir="5400000">
              <a:srgbClr val="1B2A4A">
                <a:alpha val="12000"/>
              </a:srgbClr>
            </a:outerShdw>
          </a:effectLst>
        </p:spPr>
      </p:sp>
      <p:sp>
        <p:nvSpPr>
          <p:cNvPr id="36" name="Stat 2 value"/>
          <p:cNvSpPr txBox="1"/>
          <p:nvPr/>
        </p:nvSpPr>
        <p:spPr>
          <a:xfrm>
            <a:off x="6382512" y="4315968"/>
            <a:ext cx="2221992" cy="640080"/>
          </a:xfrm>
          <a:prstGeom prst="rect">
            <a:avLst/>
          </a:prstGeom>
          <a:noFill/>
          <a:ln/>
        </p:spPr>
        <p:txBody>
          <a:bodyPr wrap="square" lIns="0" tIns="0" rIns="0" bIns="0" rtlCol="0" anchor="t"/>
          <a:lstStyle/>
          <a:p>
            <a:pPr indent="0" marL="0">
              <a:buNone/>
            </a:pPr>
            <a:r>
              <a:rPr lang="en-US" sz="3200" b="1" dirty="0">
                <a:solidFill>
                  <a:schemeClr val="accent1"/>
                </a:solidFill>
              </a:rPr>
              <a:t>95%</a:t>
            </a:r>
            <a:endParaRPr lang="en-US" sz="3200" dirty="0"/>
          </a:p>
        </p:txBody>
      </p:sp>
      <p:sp>
        <p:nvSpPr>
          <p:cNvPr id="37" name="Stat 2 desc"/>
          <p:cNvSpPr txBox="1"/>
          <p:nvPr/>
        </p:nvSpPr>
        <p:spPr>
          <a:xfrm>
            <a:off x="6382512" y="4983480"/>
            <a:ext cx="2221992" cy="1097280"/>
          </a:xfrm>
          <a:prstGeom prst="rect">
            <a:avLst/>
          </a:prstGeom>
          <a:noFill/>
          <a:ln/>
        </p:spPr>
        <p:txBody>
          <a:bodyPr wrap="square" lIns="0" tIns="0" rIns="0" bIns="0" rtlCol="0" anchor="t"/>
          <a:lstStyle/>
          <a:p>
            <a:pPr indent="0" marL="0">
              <a:buNone/>
            </a:pPr>
            <a:r>
              <a:rPr lang="en-US" sz="1300" dirty="0">
                <a:solidFill>
                  <a:schemeClr val="tx1"/>
                </a:solidFill>
              </a:rPr>
              <a:t>Patient-level accuracy of VGG-16 on cytology — only 40 test patients (Guan et al., 2019)</a:t>
            </a:r>
            <a:endParaRPr lang="en-US" sz="1300" dirty="0"/>
          </a:p>
        </p:txBody>
      </p:sp>
      <p:sp>
        <p:nvSpPr>
          <p:cNvPr id="38" name="Gap box"/>
          <p:cNvSpPr/>
          <p:nvPr/>
        </p:nvSpPr>
        <p:spPr>
          <a:xfrm>
            <a:off x="9025128" y="4206240"/>
            <a:ext cx="2587752" cy="1965960"/>
          </a:xfrm>
          <a:prstGeom prst="roundRect">
            <a:avLst>
              <a:gd name="adj" fmla="val 3721"/>
            </a:avLst>
          </a:prstGeom>
          <a:solidFill>
            <a:schemeClr val="tx2"/>
          </a:solidFill>
          <a:ln/>
        </p:spPr>
      </p:sp>
      <p:sp>
        <p:nvSpPr>
          <p:cNvPr id="39" name="Gap text"/>
          <p:cNvSpPr txBox="1"/>
          <p:nvPr/>
        </p:nvSpPr>
        <p:spPr>
          <a:xfrm>
            <a:off x="9208008" y="4343400"/>
            <a:ext cx="2221992" cy="1737360"/>
          </a:xfrm>
          <a:prstGeom prst="rect">
            <a:avLst/>
          </a:prstGeom>
          <a:noFill/>
          <a:ln/>
        </p:spPr>
        <p:txBody>
          <a:bodyPr wrap="square" lIns="0" tIns="0" rIns="0" bIns="0" rtlCol="0" anchor="t"/>
          <a:lstStyle/>
          <a:p>
            <a:pPr indent="0" marL="0">
              <a:spcAft>
                <a:spcPts val="600"/>
              </a:spcAft>
              <a:buNone/>
            </a:pPr>
            <a:r>
              <a:rPr lang="en-US" sz="1800" b="1" dirty="0">
                <a:solidFill>
                  <a:schemeClr val="accent1"/>
                </a:solidFill>
              </a:rPr>
              <a:t>The gap</a:t>
            </a:r>
            <a:endParaRPr lang="en-US" sz="1400" dirty="0"/>
          </a:p>
          <a:p>
            <a:pPr indent="0" marL="0">
              <a:spcAft>
                <a:spcPts val="600"/>
              </a:spcAft>
              <a:buNone/>
            </a:pPr>
            <a:r>
              <a:rPr lang="en-US" sz="1400" dirty="0">
                <a:solidFill>
                  <a:schemeClr val="bg1"/>
                </a:solidFill>
              </a:rPr>
              <a:t>Models are single-modality, need very large cohorts, and rarely calibrate or explain their output.</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57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2800" b="1" dirty="0">
                <a:solidFill>
                  <a:schemeClr val="tx2"/>
                </a:solidFill>
              </a:rPr>
              <a:t>The core problem: three failures we observed in our own prototype</a:t>
            </a:r>
            <a:endParaRPr lang="en-US" sz="2800" dirty="0"/>
          </a:p>
        </p:txBody>
      </p:sp>
      <p:sp>
        <p:nvSpPr>
          <p:cNvPr id="3" name="RP1 card"/>
          <p:cNvSpPr/>
          <p:nvPr/>
        </p:nvSpPr>
        <p:spPr>
          <a:xfrm>
            <a:off x="548640" y="1280160"/>
            <a:ext cx="3547872" cy="3794760"/>
          </a:xfrm>
          <a:prstGeom prst="roundRect">
            <a:avLst>
              <a:gd name="adj" fmla="val 2062"/>
            </a:avLst>
          </a:prstGeom>
          <a:solidFill>
            <a:schemeClr val="bg1"/>
          </a:solidFill>
          <a:ln/>
          <a:effectLst>
            <a:outerShdw sx="100000" sy="100000" kx="0" ky="0" algn="bl" rotWithShape="0" blurRad="101600" dist="25400" dir="5400000">
              <a:srgbClr val="1B2A4A">
                <a:alpha val="12000"/>
              </a:srgbClr>
            </a:outerShdw>
          </a:effectLst>
        </p:spPr>
      </p:sp>
      <p:sp>
        <p:nvSpPr>
          <p:cNvPr id="4" name="RP1 circle"/>
          <p:cNvSpPr/>
          <p:nvPr/>
        </p:nvSpPr>
        <p:spPr>
          <a:xfrm>
            <a:off x="777240" y="1508760"/>
            <a:ext cx="640080" cy="640080"/>
          </a:xfrm>
          <a:prstGeom prst="ellipse">
            <a:avLst/>
          </a:prstGeom>
          <a:solidFill>
            <a:schemeClr val="accent1"/>
          </a:solidFill>
          <a:ln/>
        </p:spPr>
      </p:sp>
      <p:pic>
        <p:nvPicPr>
          <p:cNvPr id="5" name="RP1 icon" descr="preencoded.png">    </p:cNvPr>
          <p:cNvPicPr>
            <a:picLocks noChangeAspect="1"/>
          </p:cNvPicPr>
          <p:nvPr/>
        </p:nvPicPr>
        <p:blipFill>
          <a:blip r:embed="rId1"/>
          <a:stretch>
            <a:fillRect/>
          </a:stretch>
        </p:blipFill>
        <p:spPr>
          <a:xfrm>
            <a:off x="943661" y="1675181"/>
            <a:ext cx="307238" cy="307238"/>
          </a:xfrm>
          <a:prstGeom prst="rect">
            <a:avLst/>
          </a:prstGeom>
        </p:spPr>
      </p:pic>
      <p:sp>
        <p:nvSpPr>
          <p:cNvPr id="6" name="RP1 id"/>
          <p:cNvSpPr txBox="1"/>
          <p:nvPr/>
        </p:nvSpPr>
        <p:spPr>
          <a:xfrm>
            <a:off x="1554480" y="1508760"/>
            <a:ext cx="22860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RP1</a:t>
            </a:r>
            <a:endParaRPr lang="en-US" sz="1200" dirty="0"/>
          </a:p>
        </p:txBody>
      </p:sp>
      <p:sp>
        <p:nvSpPr>
          <p:cNvPr id="7" name="RP1 title"/>
          <p:cNvSpPr txBox="1"/>
          <p:nvPr/>
        </p:nvSpPr>
        <p:spPr>
          <a:xfrm>
            <a:off x="1554480" y="1783080"/>
            <a:ext cx="2359152" cy="365760"/>
          </a:xfrm>
          <a:prstGeom prst="rect">
            <a:avLst/>
          </a:prstGeom>
          <a:noFill/>
          <a:ln/>
        </p:spPr>
        <p:txBody>
          <a:bodyPr wrap="square" lIns="0" tIns="0" rIns="0" bIns="0" rtlCol="0" anchor="t"/>
          <a:lstStyle/>
          <a:p>
            <a:pPr indent="0" marL="0">
              <a:buNone/>
            </a:pPr>
            <a:r>
              <a:rPr lang="en-US" sz="1700" b="1" dirty="0">
                <a:solidFill>
                  <a:schemeClr val="tx2"/>
                </a:solidFill>
              </a:rPr>
              <a:t>Overfitting on small data</a:t>
            </a:r>
            <a:endParaRPr lang="en-US" sz="1700" dirty="0"/>
          </a:p>
        </p:txBody>
      </p:sp>
      <p:sp>
        <p:nvSpPr>
          <p:cNvPr id="8" name="RP1 stat"/>
          <p:cNvSpPr txBox="1"/>
          <p:nvPr/>
        </p:nvSpPr>
        <p:spPr>
          <a:xfrm>
            <a:off x="777240" y="2377440"/>
            <a:ext cx="3090672" cy="685800"/>
          </a:xfrm>
          <a:prstGeom prst="rect">
            <a:avLst/>
          </a:prstGeom>
          <a:noFill/>
          <a:ln/>
        </p:spPr>
        <p:txBody>
          <a:bodyPr wrap="square" lIns="0" tIns="0" rIns="0" bIns="0" rtlCol="0" anchor="t"/>
          <a:lstStyle/>
          <a:p>
            <a:pPr indent="0" marL="0">
              <a:buNone/>
            </a:pPr>
            <a:r>
              <a:rPr lang="en-US" sz="3600" b="1" dirty="0">
                <a:solidFill>
                  <a:schemeClr val="accent1"/>
                </a:solidFill>
              </a:rPr>
              <a:t>~99%</a:t>
            </a:r>
            <a:endParaRPr lang="en-US" sz="3600" dirty="0"/>
          </a:p>
        </p:txBody>
      </p:sp>
      <p:sp>
        <p:nvSpPr>
          <p:cNvPr id="9" name="RP1 caption"/>
          <p:cNvSpPr txBox="1"/>
          <p:nvPr/>
        </p:nvSpPr>
        <p:spPr>
          <a:xfrm>
            <a:off x="777240" y="3063240"/>
            <a:ext cx="3090672" cy="731520"/>
          </a:xfrm>
          <a:prstGeom prst="rect">
            <a:avLst/>
          </a:prstGeom>
          <a:noFill/>
          <a:ln/>
        </p:spPr>
        <p:txBody>
          <a:bodyPr wrap="square" lIns="0" tIns="0" rIns="0" bIns="0" rtlCol="0" anchor="t"/>
          <a:lstStyle/>
          <a:p>
            <a:pPr indent="0" marL="0">
              <a:buNone/>
            </a:pPr>
            <a:r>
              <a:rPr lang="en-US" sz="1300" dirty="0">
                <a:solidFill>
                  <a:schemeClr val="accent3"/>
                </a:solidFill>
              </a:rPr>
              <a:t>accuracy in the first epochs with a fully unfrozen ConvNeXt-Tiny on 384 patients</a:t>
            </a:r>
            <a:endParaRPr lang="en-US" sz="1300" dirty="0"/>
          </a:p>
        </p:txBody>
      </p:sp>
      <p:sp>
        <p:nvSpPr>
          <p:cNvPr id="10" name="RP1 effect"/>
          <p:cNvSpPr txBox="1"/>
          <p:nvPr/>
        </p:nvSpPr>
        <p:spPr>
          <a:xfrm>
            <a:off x="777240" y="3977640"/>
            <a:ext cx="3090672" cy="914400"/>
          </a:xfrm>
          <a:prstGeom prst="rect">
            <a:avLst/>
          </a:prstGeom>
          <a:noFill/>
          <a:ln/>
        </p:spPr>
        <p:txBody>
          <a:bodyPr wrap="square" lIns="0" tIns="0" rIns="0" bIns="0" rtlCol="0" anchor="t"/>
          <a:lstStyle/>
          <a:p>
            <a:pPr indent="0" marL="0">
              <a:buNone/>
            </a:pPr>
            <a:r>
              <a:rPr lang="en-US" sz="1400" dirty="0">
                <a:solidFill>
                  <a:schemeClr val="tx1"/>
                </a:solidFill>
              </a:rPr>
              <a:t>Memorisation instead of learning → poor generalisation to new patients.</a:t>
            </a:r>
            <a:endParaRPr lang="en-US" sz="1400" dirty="0"/>
          </a:p>
        </p:txBody>
      </p:sp>
      <p:sp>
        <p:nvSpPr>
          <p:cNvPr id="11" name="RP2 card"/>
          <p:cNvSpPr/>
          <p:nvPr/>
        </p:nvSpPr>
        <p:spPr>
          <a:xfrm>
            <a:off x="4315968" y="1280160"/>
            <a:ext cx="3547872" cy="3794760"/>
          </a:xfrm>
          <a:prstGeom prst="roundRect">
            <a:avLst>
              <a:gd name="adj" fmla="val 2062"/>
            </a:avLst>
          </a:prstGeom>
          <a:solidFill>
            <a:schemeClr val="bg1"/>
          </a:solidFill>
          <a:ln/>
          <a:effectLst>
            <a:outerShdw sx="100000" sy="100000" kx="0" ky="0" algn="bl" rotWithShape="0" blurRad="101600" dist="25400" dir="5400000">
              <a:srgbClr val="1B2A4A">
                <a:alpha val="12000"/>
              </a:srgbClr>
            </a:outerShdw>
          </a:effectLst>
        </p:spPr>
      </p:sp>
      <p:sp>
        <p:nvSpPr>
          <p:cNvPr id="12" name="RP2 circle"/>
          <p:cNvSpPr/>
          <p:nvPr/>
        </p:nvSpPr>
        <p:spPr>
          <a:xfrm>
            <a:off x="4544568" y="1508760"/>
            <a:ext cx="640080" cy="640080"/>
          </a:xfrm>
          <a:prstGeom prst="ellipse">
            <a:avLst/>
          </a:prstGeom>
          <a:solidFill>
            <a:schemeClr val="accent2"/>
          </a:solidFill>
          <a:ln/>
        </p:spPr>
      </p:sp>
      <p:pic>
        <p:nvPicPr>
          <p:cNvPr id="13" name="RP2 icon" descr="preencoded.png">    </p:cNvPr>
          <p:cNvPicPr>
            <a:picLocks noChangeAspect="1"/>
          </p:cNvPicPr>
          <p:nvPr/>
        </p:nvPicPr>
        <p:blipFill>
          <a:blip r:embed="rId2"/>
          <a:stretch>
            <a:fillRect/>
          </a:stretch>
        </p:blipFill>
        <p:spPr>
          <a:xfrm>
            <a:off x="4710989" y="1675181"/>
            <a:ext cx="307238" cy="307238"/>
          </a:xfrm>
          <a:prstGeom prst="rect">
            <a:avLst/>
          </a:prstGeom>
        </p:spPr>
      </p:pic>
      <p:sp>
        <p:nvSpPr>
          <p:cNvPr id="14" name="RP2 id"/>
          <p:cNvSpPr txBox="1"/>
          <p:nvPr/>
        </p:nvSpPr>
        <p:spPr>
          <a:xfrm>
            <a:off x="5321808" y="1508760"/>
            <a:ext cx="2286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RP2</a:t>
            </a:r>
            <a:endParaRPr lang="en-US" sz="1200" dirty="0"/>
          </a:p>
        </p:txBody>
      </p:sp>
      <p:sp>
        <p:nvSpPr>
          <p:cNvPr id="15" name="RP2 title"/>
          <p:cNvSpPr txBox="1"/>
          <p:nvPr/>
        </p:nvSpPr>
        <p:spPr>
          <a:xfrm>
            <a:off x="5321808" y="1783080"/>
            <a:ext cx="2359152" cy="365760"/>
          </a:xfrm>
          <a:prstGeom prst="rect">
            <a:avLst/>
          </a:prstGeom>
          <a:noFill/>
          <a:ln/>
        </p:spPr>
        <p:txBody>
          <a:bodyPr wrap="square" lIns="0" tIns="0" rIns="0" bIns="0" rtlCol="0" anchor="t"/>
          <a:lstStyle/>
          <a:p>
            <a:pPr indent="0" marL="0">
              <a:buNone/>
            </a:pPr>
            <a:r>
              <a:rPr lang="en-US" sz="1700" b="1" dirty="0">
                <a:solidFill>
                  <a:schemeClr val="tx2"/>
                </a:solidFill>
              </a:rPr>
              <a:t>Fragmented pipeline</a:t>
            </a:r>
            <a:endParaRPr lang="en-US" sz="1700" dirty="0"/>
          </a:p>
        </p:txBody>
      </p:sp>
      <p:sp>
        <p:nvSpPr>
          <p:cNvPr id="16" name="RP2 stat"/>
          <p:cNvSpPr txBox="1"/>
          <p:nvPr/>
        </p:nvSpPr>
        <p:spPr>
          <a:xfrm>
            <a:off x="4544568" y="2377440"/>
            <a:ext cx="3090672" cy="685800"/>
          </a:xfrm>
          <a:prstGeom prst="rect">
            <a:avLst/>
          </a:prstGeom>
          <a:noFill/>
          <a:ln/>
        </p:spPr>
        <p:txBody>
          <a:bodyPr wrap="square" lIns="0" tIns="0" rIns="0" bIns="0" rtlCol="0" anchor="t"/>
          <a:lstStyle/>
          <a:p>
            <a:pPr indent="0" marL="0">
              <a:buNone/>
            </a:pPr>
            <a:r>
              <a:rPr lang="en-US" sz="3600" b="1" dirty="0">
                <a:solidFill>
                  <a:schemeClr val="accent2"/>
                </a:solidFill>
              </a:rPr>
              <a:t>7 scripts</a:t>
            </a:r>
            <a:endParaRPr lang="en-US" sz="3600" dirty="0"/>
          </a:p>
        </p:txBody>
      </p:sp>
      <p:sp>
        <p:nvSpPr>
          <p:cNvPr id="17" name="RP2 caption"/>
          <p:cNvSpPr txBox="1"/>
          <p:nvPr/>
        </p:nvSpPr>
        <p:spPr>
          <a:xfrm>
            <a:off x="4544568" y="3063240"/>
            <a:ext cx="3090672" cy="731520"/>
          </a:xfrm>
          <a:prstGeom prst="rect">
            <a:avLst/>
          </a:prstGeom>
          <a:noFill/>
          <a:ln/>
        </p:spPr>
        <p:txBody>
          <a:bodyPr wrap="square" lIns="0" tIns="0" rIns="0" bIns="0" rtlCol="0" anchor="t"/>
          <a:lstStyle/>
          <a:p>
            <a:pPr indent="0" marL="0">
              <a:buNone/>
            </a:pPr>
            <a:r>
              <a:rPr lang="en-US" sz="1300" dirty="0">
                <a:solidFill>
                  <a:schemeClr val="accent3"/>
                </a:solidFill>
              </a:rPr>
              <a:t>in the first prototype, with duplicated transforms, model and data loaders</a:t>
            </a:r>
            <a:endParaRPr lang="en-US" sz="1300" dirty="0"/>
          </a:p>
        </p:txBody>
      </p:sp>
      <p:sp>
        <p:nvSpPr>
          <p:cNvPr id="18" name="RP2 effect"/>
          <p:cNvSpPr txBox="1"/>
          <p:nvPr/>
        </p:nvSpPr>
        <p:spPr>
          <a:xfrm>
            <a:off x="4544568" y="3977640"/>
            <a:ext cx="3090672" cy="914400"/>
          </a:xfrm>
          <a:prstGeom prst="rect">
            <a:avLst/>
          </a:prstGeom>
          <a:noFill/>
          <a:ln/>
        </p:spPr>
        <p:txBody>
          <a:bodyPr wrap="square" lIns="0" tIns="0" rIns="0" bIns="0" rtlCol="0" anchor="t"/>
          <a:lstStyle/>
          <a:p>
            <a:pPr indent="0" marL="0">
              <a:buNone/>
            </a:pPr>
            <a:r>
              <a:rPr lang="en-US" sz="1400" dirty="0">
                <a:solidFill>
                  <a:schemeClr val="tx1"/>
                </a:solidFill>
              </a:rPr>
              <a:t>Preprocessing, training and evaluation silently diverge → results not reproducible.</a:t>
            </a:r>
            <a:endParaRPr lang="en-US" sz="1400" dirty="0"/>
          </a:p>
        </p:txBody>
      </p:sp>
      <p:sp>
        <p:nvSpPr>
          <p:cNvPr id="19" name="RP3 card"/>
          <p:cNvSpPr/>
          <p:nvPr/>
        </p:nvSpPr>
        <p:spPr>
          <a:xfrm>
            <a:off x="8083296" y="1280160"/>
            <a:ext cx="3547872" cy="3794760"/>
          </a:xfrm>
          <a:prstGeom prst="roundRect">
            <a:avLst>
              <a:gd name="adj" fmla="val 2062"/>
            </a:avLst>
          </a:prstGeom>
          <a:solidFill>
            <a:schemeClr val="bg1"/>
          </a:solidFill>
          <a:ln/>
          <a:effectLst>
            <a:outerShdw sx="100000" sy="100000" kx="0" ky="0" algn="bl" rotWithShape="0" blurRad="101600" dist="25400" dir="5400000">
              <a:srgbClr val="1B2A4A">
                <a:alpha val="12000"/>
              </a:srgbClr>
            </a:outerShdw>
          </a:effectLst>
        </p:spPr>
      </p:sp>
      <p:sp>
        <p:nvSpPr>
          <p:cNvPr id="20" name="RP3 circle"/>
          <p:cNvSpPr/>
          <p:nvPr/>
        </p:nvSpPr>
        <p:spPr>
          <a:xfrm>
            <a:off x="8311896" y="1508760"/>
            <a:ext cx="640080" cy="640080"/>
          </a:xfrm>
          <a:prstGeom prst="ellipse">
            <a:avLst/>
          </a:prstGeom>
          <a:solidFill>
            <a:schemeClr val="accent3"/>
          </a:solidFill>
          <a:ln/>
        </p:spPr>
      </p:sp>
      <p:pic>
        <p:nvPicPr>
          <p:cNvPr id="21" name="RP3 icon" descr="preencoded.png">    </p:cNvPr>
          <p:cNvPicPr>
            <a:picLocks noChangeAspect="1"/>
          </p:cNvPicPr>
          <p:nvPr/>
        </p:nvPicPr>
        <p:blipFill>
          <a:blip r:embed="rId3"/>
          <a:stretch>
            <a:fillRect/>
          </a:stretch>
        </p:blipFill>
        <p:spPr>
          <a:xfrm>
            <a:off x="8478317" y="1675181"/>
            <a:ext cx="307238" cy="307238"/>
          </a:xfrm>
          <a:prstGeom prst="rect">
            <a:avLst/>
          </a:prstGeom>
        </p:spPr>
      </p:pic>
      <p:sp>
        <p:nvSpPr>
          <p:cNvPr id="22" name="RP3 id"/>
          <p:cNvSpPr txBox="1"/>
          <p:nvPr/>
        </p:nvSpPr>
        <p:spPr>
          <a:xfrm>
            <a:off x="9089136" y="1508760"/>
            <a:ext cx="2286000" cy="274320"/>
          </a:xfrm>
          <a:prstGeom prst="rect">
            <a:avLst/>
          </a:prstGeom>
          <a:noFill/>
          <a:ln/>
        </p:spPr>
        <p:txBody>
          <a:bodyPr wrap="square" lIns="0" tIns="0" rIns="0" bIns="0" rtlCol="0" anchor="t"/>
          <a:lstStyle/>
          <a:p>
            <a:pPr indent="0" marL="0">
              <a:buNone/>
            </a:pPr>
            <a:r>
              <a:rPr lang="en-US" sz="1200" b="1" spc="150" kern="0" dirty="0">
                <a:solidFill>
                  <a:schemeClr val="accent3"/>
                </a:solidFill>
              </a:rPr>
              <a:t>RP3</a:t>
            </a:r>
            <a:endParaRPr lang="en-US" sz="1200" dirty="0"/>
          </a:p>
        </p:txBody>
      </p:sp>
      <p:sp>
        <p:nvSpPr>
          <p:cNvPr id="23" name="RP3 title"/>
          <p:cNvSpPr txBox="1"/>
          <p:nvPr/>
        </p:nvSpPr>
        <p:spPr>
          <a:xfrm>
            <a:off x="9089136" y="1783080"/>
            <a:ext cx="2359152" cy="365760"/>
          </a:xfrm>
          <a:prstGeom prst="rect">
            <a:avLst/>
          </a:prstGeom>
          <a:noFill/>
          <a:ln/>
        </p:spPr>
        <p:txBody>
          <a:bodyPr wrap="square" lIns="0" tIns="0" rIns="0" bIns="0" rtlCol="0" anchor="t"/>
          <a:lstStyle/>
          <a:p>
            <a:pPr indent="0" marL="0">
              <a:buNone/>
            </a:pPr>
            <a:r>
              <a:rPr lang="en-US" sz="1700" b="1" dirty="0">
                <a:solidFill>
                  <a:schemeClr val="tx2"/>
                </a:solidFill>
              </a:rPr>
              <a:t>Opaque evaluation</a:t>
            </a:r>
            <a:endParaRPr lang="en-US" sz="1700" dirty="0"/>
          </a:p>
        </p:txBody>
      </p:sp>
      <p:sp>
        <p:nvSpPr>
          <p:cNvPr id="24" name="RP3 stat"/>
          <p:cNvSpPr txBox="1"/>
          <p:nvPr/>
        </p:nvSpPr>
        <p:spPr>
          <a:xfrm>
            <a:off x="8311896" y="2377440"/>
            <a:ext cx="3090672" cy="685800"/>
          </a:xfrm>
          <a:prstGeom prst="rect">
            <a:avLst/>
          </a:prstGeom>
          <a:noFill/>
          <a:ln/>
        </p:spPr>
        <p:txBody>
          <a:bodyPr wrap="square" lIns="0" tIns="0" rIns="0" bIns="0" rtlCol="0" anchor="t"/>
          <a:lstStyle/>
          <a:p>
            <a:pPr indent="0" marL="0">
              <a:buNone/>
            </a:pPr>
            <a:r>
              <a:rPr lang="en-US" sz="3600" b="1" dirty="0">
                <a:solidFill>
                  <a:schemeClr val="accent3"/>
                </a:solidFill>
              </a:rPr>
              <a:t>Accuracy only</a:t>
            </a:r>
            <a:endParaRPr lang="en-US" sz="3600" dirty="0"/>
          </a:p>
        </p:txBody>
      </p:sp>
      <p:sp>
        <p:nvSpPr>
          <p:cNvPr id="25" name="RP3 caption"/>
          <p:cNvSpPr txBox="1"/>
          <p:nvPr/>
        </p:nvSpPr>
        <p:spPr>
          <a:xfrm>
            <a:off x="8311896" y="3063240"/>
            <a:ext cx="3090672" cy="731520"/>
          </a:xfrm>
          <a:prstGeom prst="rect">
            <a:avLst/>
          </a:prstGeom>
          <a:noFill/>
          <a:ln/>
        </p:spPr>
        <p:txBody>
          <a:bodyPr wrap="square" lIns="0" tIns="0" rIns="0" bIns="0" rtlCol="0" anchor="t"/>
          <a:lstStyle/>
          <a:p>
            <a:pPr indent="0" marL="0">
              <a:buNone/>
            </a:pPr>
            <a:r>
              <a:rPr lang="en-US" sz="1300" dirty="0">
                <a:solidFill>
                  <a:schemeClr val="accent3"/>
                </a:solidFill>
              </a:rPr>
              <a:t>no confidence intervals, no calibration, no explanation of predictions</a:t>
            </a:r>
            <a:endParaRPr lang="en-US" sz="1300" dirty="0"/>
          </a:p>
        </p:txBody>
      </p:sp>
      <p:sp>
        <p:nvSpPr>
          <p:cNvPr id="26" name="RP3 effect"/>
          <p:cNvSpPr txBox="1"/>
          <p:nvPr/>
        </p:nvSpPr>
        <p:spPr>
          <a:xfrm>
            <a:off x="8311896" y="3977640"/>
            <a:ext cx="3090672" cy="914400"/>
          </a:xfrm>
          <a:prstGeom prst="rect">
            <a:avLst/>
          </a:prstGeom>
          <a:noFill/>
          <a:ln/>
        </p:spPr>
        <p:txBody>
          <a:bodyPr wrap="square" lIns="0" tIns="0" rIns="0" bIns="0" rtlCol="0" anchor="t"/>
          <a:lstStyle/>
          <a:p>
            <a:pPr indent="0" marL="0">
              <a:buNone/>
            </a:pPr>
            <a:r>
              <a:rPr lang="en-US" sz="1400" dirty="0">
                <a:solidFill>
                  <a:schemeClr val="tx1"/>
                </a:solidFill>
              </a:rPr>
              <a:t>Clinicians cannot judge reliability or see why a case is called malignant.</a:t>
            </a:r>
            <a:endParaRPr lang="en-US" sz="1400" dirty="0"/>
          </a:p>
        </p:txBody>
      </p:sp>
      <p:sp>
        <p:nvSpPr>
          <p:cNvPr id="27" name="Why CS band"/>
          <p:cNvSpPr/>
          <p:nvPr/>
        </p:nvSpPr>
        <p:spPr>
          <a:xfrm>
            <a:off x="548640" y="5303520"/>
            <a:ext cx="11094415" cy="868680"/>
          </a:xfrm>
          <a:prstGeom prst="roundRect">
            <a:avLst>
              <a:gd name="adj" fmla="val 8421"/>
            </a:avLst>
          </a:prstGeom>
          <a:solidFill>
            <a:schemeClr val="bg2"/>
          </a:solidFill>
          <a:ln/>
        </p:spPr>
      </p:sp>
      <p:sp>
        <p:nvSpPr>
          <p:cNvPr id="28" name="Why CS text"/>
          <p:cNvSpPr txBox="1"/>
          <p:nvPr/>
        </p:nvSpPr>
        <p:spPr>
          <a:xfrm>
            <a:off x="822960" y="5303520"/>
            <a:ext cx="10545775" cy="868680"/>
          </a:xfrm>
          <a:prstGeom prst="rect">
            <a:avLst/>
          </a:prstGeom>
          <a:noFill/>
          <a:ln/>
        </p:spPr>
        <p:txBody>
          <a:bodyPr wrap="square" lIns="0" tIns="0" rIns="0" bIns="0" rtlCol="0" anchor="ctr"/>
          <a:lstStyle/>
          <a:p>
            <a:pPr indent="0" marL="0">
              <a:buNone/>
            </a:pPr>
            <a:r>
              <a:rPr lang="en-US" sz="1500" b="1" dirty="0">
                <a:solidFill>
                  <a:schemeClr val="tx2"/>
                </a:solidFill>
              </a:rPr>
              <a:t>Why it is a Computer Science problem:  </a:t>
            </a:r>
            <a:pPr indent="0" marL="0">
              <a:buNone/>
            </a:pPr>
            <a:r>
              <a:rPr lang="en-US" sz="1500" dirty="0">
                <a:solidFill>
                  <a:schemeClr val="tx1"/>
                </a:solidFill>
              </a:rPr>
              <a:t>learning from few samples · fusing one image with a variable-size set of patches · reproducible ML engineering · trustworthy evaluation and explainability</a:t>
            </a:r>
            <a:endParaRPr lang="en-US" sz="15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57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2800" b="1" dirty="0">
                <a:solidFill>
                  <a:schemeClr val="tx2"/>
                </a:solidFill>
              </a:rPr>
              <a:t>Research questions → objectives → measurable targets</a:t>
            </a:r>
            <a:endParaRPr lang="en-US" sz="2800" dirty="0"/>
          </a:p>
        </p:txBody>
      </p:sp>
      <p:sp>
        <p:nvSpPr>
          <p:cNvPr id="3" name="General objective"/>
          <p:cNvSpPr/>
          <p:nvPr/>
        </p:nvSpPr>
        <p:spPr>
          <a:xfrm>
            <a:off x="548640" y="1207008"/>
            <a:ext cx="11094415" cy="566928"/>
          </a:xfrm>
          <a:prstGeom prst="roundRect">
            <a:avLst>
              <a:gd name="adj" fmla="val 12903"/>
            </a:avLst>
          </a:prstGeom>
          <a:solidFill>
            <a:schemeClr val="bg2"/>
          </a:solidFill>
          <a:ln/>
        </p:spPr>
      </p:sp>
      <p:sp>
        <p:nvSpPr>
          <p:cNvPr id="4" name="General objective text"/>
          <p:cNvSpPr txBox="1"/>
          <p:nvPr/>
        </p:nvSpPr>
        <p:spPr>
          <a:xfrm>
            <a:off x="777240" y="1207008"/>
            <a:ext cx="10637215" cy="566928"/>
          </a:xfrm>
          <a:prstGeom prst="rect">
            <a:avLst/>
          </a:prstGeom>
          <a:noFill/>
          <a:ln/>
        </p:spPr>
        <p:txBody>
          <a:bodyPr wrap="square" lIns="0" tIns="0" rIns="0" bIns="0" rtlCol="0" anchor="ctr"/>
          <a:lstStyle/>
          <a:p>
            <a:pPr indent="0" marL="0">
              <a:buNone/>
            </a:pPr>
            <a:r>
              <a:rPr lang="en-US" sz="1400" b="1" dirty="0">
                <a:solidFill>
                  <a:schemeClr val="tx2"/>
                </a:solidFill>
              </a:rPr>
              <a:t>General objective: </a:t>
            </a:r>
            <a:pPr indent="0" marL="0">
              <a:buNone/>
            </a:pPr>
            <a:r>
              <a:rPr lang="en-US" sz="1400" i="1" dirty="0">
                <a:solidFill>
                  <a:schemeClr val="tx1"/>
                </a:solidFill>
              </a:rPr>
              <a:t>design, develop, implement and evaluate a unified, interpretable pipeline that improves generalisation, reproducibility and evaluation reliability.</a:t>
            </a:r>
            <a:endParaRPr lang="en-US" sz="1400" dirty="0"/>
          </a:p>
        </p:txBody>
      </p:sp>
      <p:sp>
        <p:nvSpPr>
          <p:cNvPr id="5" name="Header 0"/>
          <p:cNvSpPr txBox="1"/>
          <p:nvPr/>
        </p:nvSpPr>
        <p:spPr>
          <a:xfrm>
            <a:off x="1508760" y="1901952"/>
            <a:ext cx="4023360" cy="256032"/>
          </a:xfrm>
          <a:prstGeom prst="rect">
            <a:avLst/>
          </a:prstGeom>
          <a:noFill/>
          <a:ln/>
        </p:spPr>
        <p:txBody>
          <a:bodyPr wrap="square" lIns="0" tIns="0" rIns="0" bIns="0" rtlCol="0" anchor="t"/>
          <a:lstStyle/>
          <a:p>
            <a:pPr indent="0" marL="0">
              <a:buNone/>
            </a:pPr>
            <a:r>
              <a:rPr lang="en-US" sz="1100" b="1" spc="150" kern="0" dirty="0">
                <a:solidFill>
                  <a:schemeClr val="accent3"/>
                </a:solidFill>
              </a:rPr>
              <a:t>RESEARCH QUESTION</a:t>
            </a:r>
            <a:endParaRPr lang="en-US" sz="1100" dirty="0"/>
          </a:p>
        </p:txBody>
      </p:sp>
      <p:sp>
        <p:nvSpPr>
          <p:cNvPr id="6" name="Header 1"/>
          <p:cNvSpPr txBox="1"/>
          <p:nvPr/>
        </p:nvSpPr>
        <p:spPr>
          <a:xfrm>
            <a:off x="5715000" y="1901952"/>
            <a:ext cx="3246120" cy="256032"/>
          </a:xfrm>
          <a:prstGeom prst="rect">
            <a:avLst/>
          </a:prstGeom>
          <a:noFill/>
          <a:ln/>
        </p:spPr>
        <p:txBody>
          <a:bodyPr wrap="square" lIns="0" tIns="0" rIns="0" bIns="0" rtlCol="0" anchor="t"/>
          <a:lstStyle/>
          <a:p>
            <a:pPr indent="0" marL="0">
              <a:buNone/>
            </a:pPr>
            <a:r>
              <a:rPr lang="en-US" sz="1100" b="1" spc="150" kern="0" dirty="0">
                <a:solidFill>
                  <a:schemeClr val="accent3"/>
                </a:solidFill>
              </a:rPr>
              <a:t>SPECIFIC OBJECTIVE</a:t>
            </a:r>
            <a:endParaRPr lang="en-US" sz="1100" dirty="0"/>
          </a:p>
        </p:txBody>
      </p:sp>
      <p:sp>
        <p:nvSpPr>
          <p:cNvPr id="7" name="Header 2"/>
          <p:cNvSpPr txBox="1"/>
          <p:nvPr/>
        </p:nvSpPr>
        <p:spPr>
          <a:xfrm>
            <a:off x="9098280" y="1901952"/>
            <a:ext cx="2542032" cy="256032"/>
          </a:xfrm>
          <a:prstGeom prst="rect">
            <a:avLst/>
          </a:prstGeom>
          <a:noFill/>
          <a:ln/>
        </p:spPr>
        <p:txBody>
          <a:bodyPr wrap="square" lIns="0" tIns="0" rIns="0" bIns="0" rtlCol="0" anchor="t"/>
          <a:lstStyle/>
          <a:p>
            <a:pPr indent="0" marL="0">
              <a:buNone/>
            </a:pPr>
            <a:r>
              <a:rPr lang="en-US" sz="1100" b="1" spc="150" kern="0" dirty="0">
                <a:solidFill>
                  <a:schemeClr val="accent3"/>
                </a:solidFill>
              </a:rPr>
              <a:t>SMART TARGET · DEADLINE</a:t>
            </a:r>
            <a:endParaRPr lang="en-US" sz="1100" dirty="0"/>
          </a:p>
        </p:txBody>
      </p:sp>
      <p:sp>
        <p:nvSpPr>
          <p:cNvPr id="8" name="RQ1 row"/>
          <p:cNvSpPr/>
          <p:nvPr/>
        </p:nvSpPr>
        <p:spPr>
          <a:xfrm>
            <a:off x="548640" y="2212848"/>
            <a:ext cx="11094415" cy="1207008"/>
          </a:xfrm>
          <a:prstGeom prst="roundRect">
            <a:avLst>
              <a:gd name="adj" fmla="val 6061"/>
            </a:avLst>
          </a:prstGeom>
          <a:solidFill>
            <a:schemeClr val="bg1"/>
          </a:solidFill>
          <a:ln/>
          <a:effectLst>
            <a:outerShdw sx="100000" sy="100000" kx="0" ky="0" algn="bl" rotWithShape="0" blurRad="101600" dist="25400" dir="5400000">
              <a:srgbClr val="1B2A4A">
                <a:alpha val="12000"/>
              </a:srgbClr>
            </a:outerShdw>
          </a:effectLst>
        </p:spPr>
      </p:sp>
      <p:sp>
        <p:nvSpPr>
          <p:cNvPr id="9" name="RQ1 badge"/>
          <p:cNvSpPr/>
          <p:nvPr/>
        </p:nvSpPr>
        <p:spPr>
          <a:xfrm>
            <a:off x="685800" y="2487168"/>
            <a:ext cx="685800" cy="658368"/>
          </a:xfrm>
          <a:prstGeom prst="roundRect">
            <a:avLst>
              <a:gd name="adj" fmla="val 11111"/>
            </a:avLst>
          </a:prstGeom>
          <a:solidFill>
            <a:schemeClr val="accent1"/>
          </a:solidFill>
          <a:ln/>
        </p:spPr>
      </p:sp>
      <p:sp>
        <p:nvSpPr>
          <p:cNvPr id="10" name="RQ1 badge text"/>
          <p:cNvSpPr txBox="1"/>
          <p:nvPr/>
        </p:nvSpPr>
        <p:spPr>
          <a:xfrm>
            <a:off x="685800" y="2487168"/>
            <a:ext cx="685800" cy="658368"/>
          </a:xfrm>
          <a:prstGeom prst="rect">
            <a:avLst/>
          </a:prstGeom>
          <a:noFill/>
          <a:ln/>
        </p:spPr>
        <p:txBody>
          <a:bodyPr wrap="square" lIns="0" tIns="0" rIns="0" bIns="0" rtlCol="0" anchor="ctr"/>
          <a:lstStyle/>
          <a:p>
            <a:pPr algn="ctr" indent="0" marL="0">
              <a:buNone/>
            </a:pPr>
            <a:r>
              <a:rPr lang="en-US" sz="1600" b="1" dirty="0">
                <a:solidFill>
                  <a:schemeClr val="bg1"/>
                </a:solidFill>
              </a:rPr>
              <a:t>RQ1</a:t>
            </a:r>
            <a:endParaRPr lang="en-US" sz="1600" dirty="0"/>
          </a:p>
        </p:txBody>
      </p:sp>
      <p:sp>
        <p:nvSpPr>
          <p:cNvPr id="11" name="RQ1 question"/>
          <p:cNvSpPr txBox="1"/>
          <p:nvPr/>
        </p:nvSpPr>
        <p:spPr>
          <a:xfrm>
            <a:off x="1508760" y="2212848"/>
            <a:ext cx="4023360" cy="1207008"/>
          </a:xfrm>
          <a:prstGeom prst="rect">
            <a:avLst/>
          </a:prstGeom>
          <a:noFill/>
          <a:ln/>
        </p:spPr>
        <p:txBody>
          <a:bodyPr wrap="square" lIns="0" tIns="0" rIns="0" bIns="0" rtlCol="0" anchor="ctr"/>
          <a:lstStyle/>
          <a:p>
            <a:pPr indent="0" marL="0">
              <a:buNone/>
            </a:pPr>
            <a:r>
              <a:rPr lang="en-US" sz="1300" dirty="0">
                <a:solidFill>
                  <a:schemeClr val="tx1"/>
                </a:solidFill>
              </a:rPr>
              <a:t>To what extent can backbone freezing, regularisation and optimised training improve the generalisation of a ConvNeXt-Tiny model on limited data?</a:t>
            </a:r>
            <a:endParaRPr lang="en-US" sz="1300" dirty="0"/>
          </a:p>
        </p:txBody>
      </p:sp>
      <p:sp>
        <p:nvSpPr>
          <p:cNvPr id="12" name="RQ1 objective"/>
          <p:cNvSpPr txBox="1"/>
          <p:nvPr/>
        </p:nvSpPr>
        <p:spPr>
          <a:xfrm>
            <a:off x="5715000" y="2212848"/>
            <a:ext cx="3246120" cy="1207008"/>
          </a:xfrm>
          <a:prstGeom prst="rect">
            <a:avLst/>
          </a:prstGeom>
          <a:noFill/>
          <a:ln/>
        </p:spPr>
        <p:txBody>
          <a:bodyPr wrap="square" lIns="0" tIns="0" rIns="0" bIns="0" rtlCol="0" anchor="ctr"/>
          <a:lstStyle/>
          <a:p>
            <a:pPr indent="0" marL="0">
              <a:buNone/>
            </a:pPr>
            <a:r>
              <a:rPr lang="en-US" sz="1300" dirty="0">
                <a:solidFill>
                  <a:schemeClr val="tx1"/>
                </a:solidFill>
              </a:rPr>
              <a:t>Implement and evaluate freezing, dropout, weight decay, label smoothing, LR schedule, clipping and early stopping.</a:t>
            </a:r>
            <a:endParaRPr lang="en-US" sz="1300" dirty="0"/>
          </a:p>
        </p:txBody>
      </p:sp>
      <p:sp>
        <p:nvSpPr>
          <p:cNvPr id="13" name="RQ1 target bg"/>
          <p:cNvSpPr/>
          <p:nvPr/>
        </p:nvSpPr>
        <p:spPr>
          <a:xfrm>
            <a:off x="9098280" y="2212848"/>
            <a:ext cx="2542032" cy="1207008"/>
          </a:xfrm>
          <a:prstGeom prst="rect">
            <a:avLst/>
          </a:prstGeom>
          <a:solidFill>
            <a:schemeClr val="accent1">
              <a:alpha val="12000"/>
            </a:schemeClr>
          </a:solidFill>
          <a:ln/>
        </p:spPr>
      </p:sp>
      <p:sp>
        <p:nvSpPr>
          <p:cNvPr id="14" name="RQ1 target"/>
          <p:cNvSpPr txBox="1"/>
          <p:nvPr/>
        </p:nvSpPr>
        <p:spPr>
          <a:xfrm>
            <a:off x="9235440" y="2212848"/>
            <a:ext cx="2286000" cy="1207008"/>
          </a:xfrm>
          <a:prstGeom prst="rect">
            <a:avLst/>
          </a:prstGeom>
          <a:noFill/>
          <a:ln/>
        </p:spPr>
        <p:txBody>
          <a:bodyPr wrap="square" lIns="0" tIns="0" rIns="0" bIns="0" rtlCol="0" anchor="ctr"/>
          <a:lstStyle/>
          <a:p>
            <a:pPr indent="0" marL="0">
              <a:buNone/>
            </a:pPr>
            <a:r>
              <a:rPr lang="en-US" sz="1300" b="1" dirty="0">
                <a:solidFill>
                  <a:schemeClr val="tx2"/>
                </a:solidFill>
              </a:rPr>
              <a:t>Ablation A0–A3 on 5 folds: AUROC ≥ 0.95, fold SD ≤ 0.03 · Weeks 7–10</a:t>
            </a:r>
            <a:endParaRPr lang="en-US" sz="1300" dirty="0"/>
          </a:p>
        </p:txBody>
      </p:sp>
      <p:sp>
        <p:nvSpPr>
          <p:cNvPr id="15" name="RQ2 row"/>
          <p:cNvSpPr/>
          <p:nvPr/>
        </p:nvSpPr>
        <p:spPr>
          <a:xfrm>
            <a:off x="548640" y="3557016"/>
            <a:ext cx="11094415" cy="1207008"/>
          </a:xfrm>
          <a:prstGeom prst="roundRect">
            <a:avLst>
              <a:gd name="adj" fmla="val 6061"/>
            </a:avLst>
          </a:prstGeom>
          <a:solidFill>
            <a:schemeClr val="bg1"/>
          </a:solidFill>
          <a:ln/>
          <a:effectLst>
            <a:outerShdw sx="100000" sy="100000" kx="0" ky="0" algn="bl" rotWithShape="0" blurRad="101600" dist="25400" dir="5400000">
              <a:srgbClr val="1B2A4A">
                <a:alpha val="12000"/>
              </a:srgbClr>
            </a:outerShdw>
          </a:effectLst>
        </p:spPr>
      </p:sp>
      <p:sp>
        <p:nvSpPr>
          <p:cNvPr id="16" name="RQ2 badge"/>
          <p:cNvSpPr/>
          <p:nvPr/>
        </p:nvSpPr>
        <p:spPr>
          <a:xfrm>
            <a:off x="685800" y="3831336"/>
            <a:ext cx="685800" cy="658368"/>
          </a:xfrm>
          <a:prstGeom prst="roundRect">
            <a:avLst>
              <a:gd name="adj" fmla="val 11111"/>
            </a:avLst>
          </a:prstGeom>
          <a:solidFill>
            <a:schemeClr val="accent2"/>
          </a:solidFill>
          <a:ln/>
        </p:spPr>
      </p:sp>
      <p:sp>
        <p:nvSpPr>
          <p:cNvPr id="17" name="RQ2 badge text"/>
          <p:cNvSpPr txBox="1"/>
          <p:nvPr/>
        </p:nvSpPr>
        <p:spPr>
          <a:xfrm>
            <a:off x="685800" y="3831336"/>
            <a:ext cx="685800" cy="658368"/>
          </a:xfrm>
          <a:prstGeom prst="rect">
            <a:avLst/>
          </a:prstGeom>
          <a:noFill/>
          <a:ln/>
        </p:spPr>
        <p:txBody>
          <a:bodyPr wrap="square" lIns="0" tIns="0" rIns="0" bIns="0" rtlCol="0" anchor="ctr"/>
          <a:lstStyle/>
          <a:p>
            <a:pPr algn="ctr" indent="0" marL="0">
              <a:buNone/>
            </a:pPr>
            <a:r>
              <a:rPr lang="en-US" sz="1600" b="1" dirty="0">
                <a:solidFill>
                  <a:schemeClr val="bg1"/>
                </a:solidFill>
              </a:rPr>
              <a:t>RQ2</a:t>
            </a:r>
            <a:endParaRPr lang="en-US" sz="1600" dirty="0"/>
          </a:p>
        </p:txBody>
      </p:sp>
      <p:sp>
        <p:nvSpPr>
          <p:cNvPr id="18" name="RQ2 question"/>
          <p:cNvSpPr txBox="1"/>
          <p:nvPr/>
        </p:nvSpPr>
        <p:spPr>
          <a:xfrm>
            <a:off x="1508760" y="3557016"/>
            <a:ext cx="4023360" cy="1207008"/>
          </a:xfrm>
          <a:prstGeom prst="rect">
            <a:avLst/>
          </a:prstGeom>
          <a:noFill/>
          <a:ln/>
        </p:spPr>
        <p:txBody>
          <a:bodyPr wrap="square" lIns="0" tIns="0" rIns="0" bIns="0" rtlCol="0" anchor="ctr"/>
          <a:lstStyle/>
          <a:p>
            <a:pPr indent="0" marL="0">
              <a:buNone/>
            </a:pPr>
            <a:r>
              <a:rPr lang="en-US" sz="1300" dirty="0">
                <a:solidFill>
                  <a:schemeClr val="tx1"/>
                </a:solidFill>
              </a:rPr>
              <a:t>How can a unified pipeline improve the reproducibility, consistency and efficiency of thyroid classification experiments?</a:t>
            </a:r>
            <a:endParaRPr lang="en-US" sz="1300" dirty="0"/>
          </a:p>
        </p:txBody>
      </p:sp>
      <p:sp>
        <p:nvSpPr>
          <p:cNvPr id="19" name="RQ2 objective"/>
          <p:cNvSpPr txBox="1"/>
          <p:nvPr/>
        </p:nvSpPr>
        <p:spPr>
          <a:xfrm>
            <a:off x="5715000" y="3557016"/>
            <a:ext cx="3246120" cy="1207008"/>
          </a:xfrm>
          <a:prstGeom prst="rect">
            <a:avLst/>
          </a:prstGeom>
          <a:noFill/>
          <a:ln/>
        </p:spPr>
        <p:txBody>
          <a:bodyPr wrap="square" lIns="0" tIns="0" rIns="0" bIns="0" rtlCol="0" anchor="ctr"/>
          <a:lstStyle/>
          <a:p>
            <a:pPr indent="0" marL="0">
              <a:buNone/>
            </a:pPr>
            <a:r>
              <a:rPr lang="en-US" sz="1300" dirty="0">
                <a:solidFill>
                  <a:schemeClr val="tx1"/>
                </a:solidFill>
              </a:rPr>
              <a:t>Develop one pipeline: metadata → preprocessing → training → validation → inference → evaluation.</a:t>
            </a:r>
            <a:endParaRPr lang="en-US" sz="1300" dirty="0"/>
          </a:p>
        </p:txBody>
      </p:sp>
      <p:sp>
        <p:nvSpPr>
          <p:cNvPr id="20" name="RQ2 target bg"/>
          <p:cNvSpPr/>
          <p:nvPr/>
        </p:nvSpPr>
        <p:spPr>
          <a:xfrm>
            <a:off x="9098280" y="3557016"/>
            <a:ext cx="2542032" cy="1207008"/>
          </a:xfrm>
          <a:prstGeom prst="rect">
            <a:avLst/>
          </a:prstGeom>
          <a:solidFill>
            <a:schemeClr val="accent2">
              <a:alpha val="12000"/>
            </a:schemeClr>
          </a:solidFill>
          <a:ln/>
        </p:spPr>
      </p:sp>
      <p:sp>
        <p:nvSpPr>
          <p:cNvPr id="21" name="RQ2 target"/>
          <p:cNvSpPr txBox="1"/>
          <p:nvPr/>
        </p:nvSpPr>
        <p:spPr>
          <a:xfrm>
            <a:off x="9235440" y="3557016"/>
            <a:ext cx="2286000" cy="1207008"/>
          </a:xfrm>
          <a:prstGeom prst="rect">
            <a:avLst/>
          </a:prstGeom>
          <a:noFill/>
          <a:ln/>
        </p:spPr>
        <p:txBody>
          <a:bodyPr wrap="square" lIns="0" tIns="0" rIns="0" bIns="0" rtlCol="0" anchor="ctr"/>
          <a:lstStyle/>
          <a:p>
            <a:pPr indent="0" marL="0">
              <a:buNone/>
            </a:pPr>
            <a:r>
              <a:rPr lang="en-US" sz="1300" b="1" dirty="0">
                <a:solidFill>
                  <a:schemeClr val="tx2"/>
                </a:solidFill>
              </a:rPr>
              <a:t>Same-seed re-runs within ±0.005 AUROC; 0 duplicated definitions · Weeks 4–9</a:t>
            </a:r>
            <a:endParaRPr lang="en-US" sz="1300" dirty="0"/>
          </a:p>
        </p:txBody>
      </p:sp>
      <p:sp>
        <p:nvSpPr>
          <p:cNvPr id="22" name="RQ3 row"/>
          <p:cNvSpPr/>
          <p:nvPr/>
        </p:nvSpPr>
        <p:spPr>
          <a:xfrm>
            <a:off x="548640" y="4901184"/>
            <a:ext cx="11094415" cy="1207008"/>
          </a:xfrm>
          <a:prstGeom prst="roundRect">
            <a:avLst>
              <a:gd name="adj" fmla="val 6061"/>
            </a:avLst>
          </a:prstGeom>
          <a:solidFill>
            <a:schemeClr val="bg1"/>
          </a:solidFill>
          <a:ln/>
          <a:effectLst>
            <a:outerShdw sx="100000" sy="100000" kx="0" ky="0" algn="bl" rotWithShape="0" blurRad="101600" dist="25400" dir="5400000">
              <a:srgbClr val="1B2A4A">
                <a:alpha val="12000"/>
              </a:srgbClr>
            </a:outerShdw>
          </a:effectLst>
        </p:spPr>
      </p:sp>
      <p:sp>
        <p:nvSpPr>
          <p:cNvPr id="23" name="RQ3 badge"/>
          <p:cNvSpPr/>
          <p:nvPr/>
        </p:nvSpPr>
        <p:spPr>
          <a:xfrm>
            <a:off x="685800" y="5175504"/>
            <a:ext cx="685800" cy="658368"/>
          </a:xfrm>
          <a:prstGeom prst="roundRect">
            <a:avLst>
              <a:gd name="adj" fmla="val 11111"/>
            </a:avLst>
          </a:prstGeom>
          <a:solidFill>
            <a:schemeClr val="accent3"/>
          </a:solidFill>
          <a:ln/>
        </p:spPr>
      </p:sp>
      <p:sp>
        <p:nvSpPr>
          <p:cNvPr id="24" name="RQ3 badge text"/>
          <p:cNvSpPr txBox="1"/>
          <p:nvPr/>
        </p:nvSpPr>
        <p:spPr>
          <a:xfrm>
            <a:off x="685800" y="5175504"/>
            <a:ext cx="685800" cy="658368"/>
          </a:xfrm>
          <a:prstGeom prst="rect">
            <a:avLst/>
          </a:prstGeom>
          <a:noFill/>
          <a:ln/>
        </p:spPr>
        <p:txBody>
          <a:bodyPr wrap="square" lIns="0" tIns="0" rIns="0" bIns="0" rtlCol="0" anchor="ctr"/>
          <a:lstStyle/>
          <a:p>
            <a:pPr algn="ctr" indent="0" marL="0">
              <a:buNone/>
            </a:pPr>
            <a:r>
              <a:rPr lang="en-US" sz="1600" b="1" dirty="0">
                <a:solidFill>
                  <a:schemeClr val="bg1"/>
                </a:solidFill>
              </a:rPr>
              <a:t>RQ3</a:t>
            </a:r>
            <a:endParaRPr lang="en-US" sz="1600" dirty="0"/>
          </a:p>
        </p:txBody>
      </p:sp>
      <p:sp>
        <p:nvSpPr>
          <p:cNvPr id="25" name="RQ3 question"/>
          <p:cNvSpPr txBox="1"/>
          <p:nvPr/>
        </p:nvSpPr>
        <p:spPr>
          <a:xfrm>
            <a:off x="1508760" y="4901184"/>
            <a:ext cx="4023360" cy="1207008"/>
          </a:xfrm>
          <a:prstGeom prst="rect">
            <a:avLst/>
          </a:prstGeom>
          <a:noFill/>
          <a:ln/>
        </p:spPr>
        <p:txBody>
          <a:bodyPr wrap="square" lIns="0" tIns="0" rIns="0" bIns="0" rtlCol="0" anchor="ctr"/>
          <a:lstStyle/>
          <a:p>
            <a:pPr indent="0" marL="0">
              <a:buNone/>
            </a:pPr>
            <a:r>
              <a:rPr lang="en-US" sz="1300" dirty="0">
                <a:solidFill>
                  <a:schemeClr val="tx1"/>
                </a:solidFill>
              </a:rPr>
              <a:t>How can attention-based visualisation and clinical metrics improve the interpretability and reliability assessment of predictions?</a:t>
            </a:r>
            <a:endParaRPr lang="en-US" sz="1300" dirty="0"/>
          </a:p>
        </p:txBody>
      </p:sp>
      <p:sp>
        <p:nvSpPr>
          <p:cNvPr id="26" name="RQ3 objective"/>
          <p:cNvSpPr txBox="1"/>
          <p:nvPr/>
        </p:nvSpPr>
        <p:spPr>
          <a:xfrm>
            <a:off x="5715000" y="4901184"/>
            <a:ext cx="3246120" cy="1207008"/>
          </a:xfrm>
          <a:prstGeom prst="rect">
            <a:avLst/>
          </a:prstGeom>
          <a:noFill/>
          <a:ln/>
        </p:spPr>
        <p:txBody>
          <a:bodyPr wrap="square" lIns="0" tIns="0" rIns="0" bIns="0" rtlCol="0" anchor="ctr"/>
          <a:lstStyle/>
          <a:p>
            <a:pPr indent="0" marL="0">
              <a:buNone/>
            </a:pPr>
            <a:r>
              <a:rPr lang="en-US" sz="1300" dirty="0">
                <a:solidFill>
                  <a:schemeClr val="tx1"/>
                </a:solidFill>
              </a:rPr>
              <a:t>Evaluate with AUROC, AUPRC, sens/spec, F1, MCC, Brier and bootstrap CI; implement relevance visualisation.</a:t>
            </a:r>
            <a:endParaRPr lang="en-US" sz="1300" dirty="0"/>
          </a:p>
        </p:txBody>
      </p:sp>
      <p:sp>
        <p:nvSpPr>
          <p:cNvPr id="27" name="RQ3 target bg"/>
          <p:cNvSpPr/>
          <p:nvPr/>
        </p:nvSpPr>
        <p:spPr>
          <a:xfrm>
            <a:off x="9098280" y="4901184"/>
            <a:ext cx="2542032" cy="1207008"/>
          </a:xfrm>
          <a:prstGeom prst="rect">
            <a:avLst/>
          </a:prstGeom>
          <a:solidFill>
            <a:schemeClr val="accent3">
              <a:alpha val="12000"/>
            </a:schemeClr>
          </a:solidFill>
          <a:ln/>
        </p:spPr>
      </p:sp>
      <p:sp>
        <p:nvSpPr>
          <p:cNvPr id="28" name="RQ3 target"/>
          <p:cNvSpPr txBox="1"/>
          <p:nvPr/>
        </p:nvSpPr>
        <p:spPr>
          <a:xfrm>
            <a:off x="9235440" y="4901184"/>
            <a:ext cx="2286000" cy="1207008"/>
          </a:xfrm>
          <a:prstGeom prst="rect">
            <a:avLst/>
          </a:prstGeom>
          <a:noFill/>
          <a:ln/>
        </p:spPr>
        <p:txBody>
          <a:bodyPr wrap="square" lIns="0" tIns="0" rIns="0" bIns="0" rtlCol="0" anchor="ctr"/>
          <a:lstStyle/>
          <a:p>
            <a:pPr indent="0" marL="0">
              <a:buNone/>
            </a:pPr>
            <a:r>
              <a:rPr lang="en-US" sz="1300" b="1" dirty="0">
                <a:solidFill>
                  <a:schemeClr val="tx2"/>
                </a:solidFill>
              </a:rPr>
              <a:t>ECE ≤ 0.05 after scaling; deletion test ≥ 70% of TP cases · Weeks 9–13</a:t>
            </a:r>
            <a:endParaRPr lang="en-US"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57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2800" b="1" dirty="0">
                <a:solidFill>
                  <a:schemeClr val="tx2"/>
                </a:solidFill>
              </a:rPr>
              <a:t>Literature: each modality works alone — fusion and trust remain open</a:t>
            </a:r>
            <a:endParaRPr lang="en-US" sz="2800" dirty="0"/>
          </a:p>
        </p:txBody>
      </p:sp>
      <p:graphicFrame>
        <p:nvGraphicFramePr>
          <p:cNvPr id="6" name="Literature table"/>
          <p:cNvGraphicFramePr>
            <a:graphicFrameLocks noGrp="1"/>
          </p:cNvGraphicFramePr>
          <p:nvPr>
            <p:extLst>
              <p:ext uri="{D42A27DB-BD31-4B8C-83A1-F6EECF244321}">
                <p14:modId xmlns:p14="http://schemas.microsoft.com/office/powerpoint/2010/main" val="1579011935"/>
              </p:ext>
            </p:extLst>
          </p:nvPr>
        </p:nvGraphicFramePr>
        <p:xfrm>
          <a:off x="548640" y="1325880"/>
          <a:ext cx="7040880" cy="914400"/>
        </p:xfrm>
        <a:graphic>
          <a:graphicData uri="http://schemas.openxmlformats.org/drawingml/2006/table">
            <a:tbl>
              <a:tblPr/>
              <a:tblGrid>
                <a:gridCol w="1828800"/>
                <a:gridCol w="1325880"/>
                <a:gridCol w="2194560"/>
                <a:gridCol w="1691640"/>
              </a:tblGrid>
              <a:tr h="5669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Study</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1B2A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Modality</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1B2A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Key result</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1B2A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Limitation</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1B2A4A"/>
                    </a:solidFill>
                  </a:tcPr>
                </a:tc>
              </a:tr>
              <a:tr h="566928">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Li et al., 2019</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Ultrasound</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AUROC 0.908–0.947 (131k images)</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US only; huge cohort</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r>
              <a:tr h="566928">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Buda et al., 2019</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3F6FA"/>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Ultrasound</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3F6FA"/>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Sens. 87% ≈ TI-RADS experts</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3F6FA"/>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Biopsy decision; US only</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3F6FA"/>
                    </a:solidFill>
                  </a:tcPr>
                </a:tc>
              </a:tr>
              <a:tr h="566928">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Guan et al., 2019</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Cytology</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95% patient-level accuracy</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40 test patients</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r>
              <a:tr h="566928">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Elliott Range et al., 2020</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3F6FA"/>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Cytology WSI</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3F6FA"/>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AUROC 0.932 ≈ cytopathologist</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3F6FA"/>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Needs slide scanners</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3F6FA"/>
                    </a:solidFill>
                  </a:tcPr>
                </a:tc>
              </a:tr>
              <a:tr h="566928">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Ilse 2018 · Lu 2021</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MIL / pathology</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Bag-level learning with attention</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Attention ≠ explanation</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This project</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E86B4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US + cytology</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E86B4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Fold-0 AUROC 0.979 (preliminary)</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E86B4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Small-data, calibrated, explained</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E86B4C"/>
                    </a:solidFill>
                  </a:tcPr>
                </a:tc>
              </a:tr>
            </a:tbl>
          </a:graphicData>
        </a:graphic>
      </p:graphicFrame>
      <p:sp>
        <p:nvSpPr>
          <p:cNvPr id="4" name="Sources"/>
          <p:cNvSpPr txBox="1"/>
          <p:nvPr/>
        </p:nvSpPr>
        <p:spPr>
          <a:xfrm>
            <a:off x="548640" y="5486400"/>
            <a:ext cx="7040880" cy="457200"/>
          </a:xfrm>
          <a:prstGeom prst="rect">
            <a:avLst/>
          </a:prstGeom>
          <a:noFill/>
          <a:ln/>
        </p:spPr>
        <p:txBody>
          <a:bodyPr wrap="square" lIns="0" tIns="0" rIns="0" bIns="0" rtlCol="0" anchor="t"/>
          <a:lstStyle/>
          <a:p>
            <a:pPr indent="0" marL="0">
              <a:buNone/>
            </a:pPr>
            <a:r>
              <a:rPr lang="en-US" sz="1000" i="1" dirty="0">
                <a:solidFill>
                  <a:schemeClr val="accent3"/>
                </a:solidFill>
              </a:rPr>
              <a:t>Sources: Li [7], Buda [8], Guan [9], Elliott Range [10], Ilse [21], Lu [12] — numbering as in the written proposal.</a:t>
            </a:r>
            <a:endParaRPr lang="en-US" sz="1000" dirty="0"/>
          </a:p>
        </p:txBody>
      </p:sp>
      <p:sp>
        <p:nvSpPr>
          <p:cNvPr id="5" name="What works card"/>
          <p:cNvSpPr/>
          <p:nvPr/>
        </p:nvSpPr>
        <p:spPr>
          <a:xfrm>
            <a:off x="7863840" y="1325880"/>
            <a:ext cx="3776472" cy="1417320"/>
          </a:xfrm>
          <a:prstGeom prst="roundRect">
            <a:avLst>
              <a:gd name="adj" fmla="val 5161"/>
            </a:avLst>
          </a:prstGeom>
          <a:solidFill>
            <a:schemeClr val="bg1"/>
          </a:solidFill>
          <a:ln/>
          <a:effectLst>
            <a:outerShdw sx="100000" sy="100000" kx="0" ky="0" algn="bl" rotWithShape="0" blurRad="101600" dist="25400" dir="5400000">
              <a:srgbClr val="1B2A4A">
                <a:alpha val="12000"/>
              </a:srgbClr>
            </a:outerShdw>
          </a:effectLst>
        </p:spPr>
      </p:sp>
      <p:sp>
        <p:nvSpPr>
          <p:cNvPr id="6" name="What works circle"/>
          <p:cNvSpPr/>
          <p:nvPr/>
        </p:nvSpPr>
        <p:spPr>
          <a:xfrm>
            <a:off x="8046720" y="1527048"/>
            <a:ext cx="502920" cy="502920"/>
          </a:xfrm>
          <a:prstGeom prst="ellipse">
            <a:avLst/>
          </a:prstGeom>
          <a:solidFill>
            <a:schemeClr val="accent5"/>
          </a:solidFill>
          <a:ln/>
        </p:spPr>
      </p:sp>
      <p:pic>
        <p:nvPicPr>
          <p:cNvPr id="7" name="What works icon" descr="preencoded.png">    </p:cNvPr>
          <p:cNvPicPr>
            <a:picLocks noChangeAspect="1"/>
          </p:cNvPicPr>
          <p:nvPr/>
        </p:nvPicPr>
        <p:blipFill>
          <a:blip r:embed="rId1"/>
          <a:stretch>
            <a:fillRect/>
          </a:stretch>
        </p:blipFill>
        <p:spPr>
          <a:xfrm>
            <a:off x="8177479" y="1657807"/>
            <a:ext cx="241402" cy="241402"/>
          </a:xfrm>
          <a:prstGeom prst="rect">
            <a:avLst/>
          </a:prstGeom>
        </p:spPr>
      </p:pic>
      <p:sp>
        <p:nvSpPr>
          <p:cNvPr id="8" name="What works title"/>
          <p:cNvSpPr txBox="1"/>
          <p:nvPr/>
        </p:nvSpPr>
        <p:spPr>
          <a:xfrm>
            <a:off x="8686800" y="1527048"/>
            <a:ext cx="2770632" cy="365760"/>
          </a:xfrm>
          <a:prstGeom prst="rect">
            <a:avLst/>
          </a:prstGeom>
          <a:noFill/>
          <a:ln/>
        </p:spPr>
        <p:txBody>
          <a:bodyPr wrap="square" lIns="0" tIns="0" rIns="0" bIns="0" rtlCol="0" anchor="ctr"/>
          <a:lstStyle/>
          <a:p>
            <a:pPr indent="0" marL="0">
              <a:buNone/>
            </a:pPr>
            <a:r>
              <a:rPr lang="en-US" sz="1600" b="1" dirty="0">
                <a:solidFill>
                  <a:schemeClr val="tx2"/>
                </a:solidFill>
              </a:rPr>
              <a:t>What works</a:t>
            </a:r>
            <a:endParaRPr lang="en-US" sz="1600" dirty="0"/>
          </a:p>
        </p:txBody>
      </p:sp>
      <p:sp>
        <p:nvSpPr>
          <p:cNvPr id="9" name="What works text"/>
          <p:cNvSpPr txBox="1"/>
          <p:nvPr/>
        </p:nvSpPr>
        <p:spPr>
          <a:xfrm>
            <a:off x="8686800" y="1892808"/>
            <a:ext cx="2770632" cy="804672"/>
          </a:xfrm>
          <a:prstGeom prst="rect">
            <a:avLst/>
          </a:prstGeom>
          <a:noFill/>
          <a:ln/>
        </p:spPr>
        <p:txBody>
          <a:bodyPr wrap="square" lIns="0" tIns="0" rIns="0" bIns="0" rtlCol="0" anchor="t"/>
          <a:lstStyle/>
          <a:p>
            <a:pPr indent="0" marL="0">
              <a:buNone/>
            </a:pPr>
            <a:r>
              <a:rPr lang="en-US" sz="1250" dirty="0">
                <a:solidFill>
                  <a:schemeClr val="tx1"/>
                </a:solidFill>
              </a:rPr>
              <a:t>CNNs extract strong signal from both ultrasound and cytology; attention-based MIL turns a bag of image fields into one patient decision.</a:t>
            </a:r>
            <a:endParaRPr lang="en-US" sz="1250" dirty="0"/>
          </a:p>
        </p:txBody>
      </p:sp>
      <p:sp>
        <p:nvSpPr>
          <p:cNvPr id="10" name="What fails card"/>
          <p:cNvSpPr/>
          <p:nvPr/>
        </p:nvSpPr>
        <p:spPr>
          <a:xfrm>
            <a:off x="7863840" y="2898648"/>
            <a:ext cx="3776472" cy="1417320"/>
          </a:xfrm>
          <a:prstGeom prst="roundRect">
            <a:avLst>
              <a:gd name="adj" fmla="val 5161"/>
            </a:avLst>
          </a:prstGeom>
          <a:solidFill>
            <a:schemeClr val="bg1"/>
          </a:solidFill>
          <a:ln/>
          <a:effectLst>
            <a:outerShdw sx="100000" sy="100000" kx="0" ky="0" algn="bl" rotWithShape="0" blurRad="101600" dist="25400" dir="5400000">
              <a:srgbClr val="1B2A4A">
                <a:alpha val="12000"/>
              </a:srgbClr>
            </a:outerShdw>
          </a:effectLst>
        </p:spPr>
      </p:sp>
      <p:sp>
        <p:nvSpPr>
          <p:cNvPr id="11" name="What fails circle"/>
          <p:cNvSpPr/>
          <p:nvPr/>
        </p:nvSpPr>
        <p:spPr>
          <a:xfrm>
            <a:off x="8046720" y="3099816"/>
            <a:ext cx="502920" cy="502920"/>
          </a:xfrm>
          <a:prstGeom prst="ellipse">
            <a:avLst/>
          </a:prstGeom>
          <a:solidFill>
            <a:schemeClr val="accent1"/>
          </a:solidFill>
          <a:ln/>
        </p:spPr>
      </p:sp>
      <p:pic>
        <p:nvPicPr>
          <p:cNvPr id="12" name="What fails icon" descr="preencoded.png">    </p:cNvPr>
          <p:cNvPicPr>
            <a:picLocks noChangeAspect="1"/>
          </p:cNvPicPr>
          <p:nvPr/>
        </p:nvPicPr>
        <p:blipFill>
          <a:blip r:embed="rId2"/>
          <a:stretch>
            <a:fillRect/>
          </a:stretch>
        </p:blipFill>
        <p:spPr>
          <a:xfrm>
            <a:off x="8177479" y="3230575"/>
            <a:ext cx="241402" cy="241402"/>
          </a:xfrm>
          <a:prstGeom prst="rect">
            <a:avLst/>
          </a:prstGeom>
        </p:spPr>
      </p:pic>
      <p:sp>
        <p:nvSpPr>
          <p:cNvPr id="13" name="What fails title"/>
          <p:cNvSpPr txBox="1"/>
          <p:nvPr/>
        </p:nvSpPr>
        <p:spPr>
          <a:xfrm>
            <a:off x="8686800" y="3099816"/>
            <a:ext cx="2770632" cy="365760"/>
          </a:xfrm>
          <a:prstGeom prst="rect">
            <a:avLst/>
          </a:prstGeom>
          <a:noFill/>
          <a:ln/>
        </p:spPr>
        <p:txBody>
          <a:bodyPr wrap="square" lIns="0" tIns="0" rIns="0" bIns="0" rtlCol="0" anchor="ctr"/>
          <a:lstStyle/>
          <a:p>
            <a:pPr indent="0" marL="0">
              <a:buNone/>
            </a:pPr>
            <a:r>
              <a:rPr lang="en-US" sz="1600" b="1" dirty="0">
                <a:solidFill>
                  <a:schemeClr val="tx2"/>
                </a:solidFill>
              </a:rPr>
              <a:t>What fails</a:t>
            </a:r>
            <a:endParaRPr lang="en-US" sz="1600" dirty="0"/>
          </a:p>
        </p:txBody>
      </p:sp>
      <p:sp>
        <p:nvSpPr>
          <p:cNvPr id="14" name="What fails text"/>
          <p:cNvSpPr txBox="1"/>
          <p:nvPr/>
        </p:nvSpPr>
        <p:spPr>
          <a:xfrm>
            <a:off x="8686800" y="3465576"/>
            <a:ext cx="2770632" cy="804672"/>
          </a:xfrm>
          <a:prstGeom prst="rect">
            <a:avLst/>
          </a:prstGeom>
          <a:noFill/>
          <a:ln/>
        </p:spPr>
        <p:txBody>
          <a:bodyPr wrap="square" lIns="0" tIns="0" rIns="0" bIns="0" rtlCol="0" anchor="t"/>
          <a:lstStyle/>
          <a:p>
            <a:pPr indent="0" marL="0">
              <a:buNone/>
            </a:pPr>
            <a:r>
              <a:rPr lang="en-US" sz="1250" dirty="0">
                <a:solidFill>
                  <a:schemeClr val="tx1"/>
                </a:solidFill>
              </a:rPr>
              <a:t>Single modality · cohorts of 10⁴–10⁵ images · accuracy-only reporting · attention maps rarely tested for faithfulness.</a:t>
            </a:r>
            <a:endParaRPr lang="en-US" sz="1250" dirty="0"/>
          </a:p>
        </p:txBody>
      </p:sp>
      <p:sp>
        <p:nvSpPr>
          <p:cNvPr id="15" name="Our position card"/>
          <p:cNvSpPr/>
          <p:nvPr/>
        </p:nvSpPr>
        <p:spPr>
          <a:xfrm>
            <a:off x="7863840" y="4471416"/>
            <a:ext cx="3776472" cy="1417320"/>
          </a:xfrm>
          <a:prstGeom prst="roundRect">
            <a:avLst>
              <a:gd name="adj" fmla="val 5161"/>
            </a:avLst>
          </a:prstGeom>
          <a:solidFill>
            <a:schemeClr val="bg1"/>
          </a:solidFill>
          <a:ln/>
          <a:effectLst>
            <a:outerShdw sx="100000" sy="100000" kx="0" ky="0" algn="bl" rotWithShape="0" blurRad="101600" dist="25400" dir="5400000">
              <a:srgbClr val="1B2A4A">
                <a:alpha val="12000"/>
              </a:srgbClr>
            </a:outerShdw>
          </a:effectLst>
        </p:spPr>
      </p:sp>
      <p:sp>
        <p:nvSpPr>
          <p:cNvPr id="16" name="Our position circle"/>
          <p:cNvSpPr/>
          <p:nvPr/>
        </p:nvSpPr>
        <p:spPr>
          <a:xfrm>
            <a:off x="8046720" y="4672584"/>
            <a:ext cx="502920" cy="502920"/>
          </a:xfrm>
          <a:prstGeom prst="ellipse">
            <a:avLst/>
          </a:prstGeom>
          <a:solidFill>
            <a:schemeClr val="tx2"/>
          </a:solidFill>
          <a:ln/>
        </p:spPr>
      </p:sp>
      <p:pic>
        <p:nvPicPr>
          <p:cNvPr id="17" name="Our position icon" descr="preencoded.png">    </p:cNvPr>
          <p:cNvPicPr>
            <a:picLocks noChangeAspect="1"/>
          </p:cNvPicPr>
          <p:nvPr/>
        </p:nvPicPr>
        <p:blipFill>
          <a:blip r:embed="rId3"/>
          <a:stretch>
            <a:fillRect/>
          </a:stretch>
        </p:blipFill>
        <p:spPr>
          <a:xfrm>
            <a:off x="8177479" y="4803343"/>
            <a:ext cx="241402" cy="241402"/>
          </a:xfrm>
          <a:prstGeom prst="rect">
            <a:avLst/>
          </a:prstGeom>
        </p:spPr>
      </p:pic>
      <p:sp>
        <p:nvSpPr>
          <p:cNvPr id="18" name="Our position title"/>
          <p:cNvSpPr txBox="1"/>
          <p:nvPr/>
        </p:nvSpPr>
        <p:spPr>
          <a:xfrm>
            <a:off x="8686800" y="4672584"/>
            <a:ext cx="2770632" cy="365760"/>
          </a:xfrm>
          <a:prstGeom prst="rect">
            <a:avLst/>
          </a:prstGeom>
          <a:noFill/>
          <a:ln/>
        </p:spPr>
        <p:txBody>
          <a:bodyPr wrap="square" lIns="0" tIns="0" rIns="0" bIns="0" rtlCol="0" anchor="ctr"/>
          <a:lstStyle/>
          <a:p>
            <a:pPr indent="0" marL="0">
              <a:buNone/>
            </a:pPr>
            <a:r>
              <a:rPr lang="en-US" sz="1600" b="1" dirty="0">
                <a:solidFill>
                  <a:schemeClr val="tx2"/>
                </a:solidFill>
              </a:rPr>
              <a:t>Our position</a:t>
            </a:r>
            <a:endParaRPr lang="en-US" sz="1600" dirty="0"/>
          </a:p>
        </p:txBody>
      </p:sp>
      <p:sp>
        <p:nvSpPr>
          <p:cNvPr id="19" name="Our position text"/>
          <p:cNvSpPr txBox="1"/>
          <p:nvPr/>
        </p:nvSpPr>
        <p:spPr>
          <a:xfrm>
            <a:off x="8686800" y="5038344"/>
            <a:ext cx="2770632" cy="804672"/>
          </a:xfrm>
          <a:prstGeom prst="rect">
            <a:avLst/>
          </a:prstGeom>
          <a:noFill/>
          <a:ln/>
        </p:spPr>
        <p:txBody>
          <a:bodyPr wrap="square" lIns="0" tIns="0" rIns="0" bIns="0" rtlCol="0" anchor="t"/>
          <a:lstStyle/>
          <a:p>
            <a:pPr indent="0" marL="0">
              <a:buNone/>
            </a:pPr>
            <a:r>
              <a:rPr lang="en-US" sz="1250" dirty="0">
                <a:solidFill>
                  <a:schemeClr val="tx1"/>
                </a:solidFill>
              </a:rPr>
              <a:t>Patient-level US + cytology fusion in a 384-patient regime, with ablation, CIs, calibration and validated relevance.</a:t>
            </a:r>
            <a:endParaRPr lang="en-US" sz="125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57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2800" b="1" dirty="0">
                <a:solidFill>
                  <a:schemeClr val="tx2"/>
                </a:solidFill>
              </a:rPr>
              <a:t>Methodology ① · Architecture: one entry point, four stages</a:t>
            </a:r>
            <a:endParaRPr lang="en-US" sz="2800" dirty="0"/>
          </a:p>
        </p:txBody>
      </p:sp>
      <p:pic>
        <p:nvPicPr>
          <p:cNvPr id="3" name="Architecture diagram" descr="System architecture: data layer, data audit, data pipeline, model, training, evaluation, explainability, inference and MVP">    </p:cNvPr>
          <p:cNvPicPr>
            <a:picLocks noChangeAspect="1"/>
          </p:cNvPicPr>
          <p:nvPr/>
        </p:nvPicPr>
        <p:blipFill>
          <a:blip r:embed="rId1"/>
          <a:stretch>
            <a:fillRect/>
          </a:stretch>
        </p:blipFill>
        <p:spPr>
          <a:xfrm>
            <a:off x="548640" y="1234440"/>
            <a:ext cx="8229600" cy="4629150"/>
          </a:xfrm>
          <a:prstGeom prst="rect">
            <a:avLst/>
          </a:prstGeom>
        </p:spPr>
      </p:pic>
      <p:sp>
        <p:nvSpPr>
          <p:cNvPr id="4" name="Single source of truth card"/>
          <p:cNvSpPr/>
          <p:nvPr/>
        </p:nvSpPr>
        <p:spPr>
          <a:xfrm>
            <a:off x="9006840" y="1234440"/>
            <a:ext cx="2633472" cy="1417320"/>
          </a:xfrm>
          <a:prstGeom prst="roundRect">
            <a:avLst>
              <a:gd name="adj" fmla="val 5161"/>
            </a:avLst>
          </a:prstGeom>
          <a:solidFill>
            <a:schemeClr val="bg2"/>
          </a:solidFill>
          <a:ln/>
        </p:spPr>
      </p:sp>
      <p:sp>
        <p:nvSpPr>
          <p:cNvPr id="5" name="Single source of truth circle"/>
          <p:cNvSpPr/>
          <p:nvPr/>
        </p:nvSpPr>
        <p:spPr>
          <a:xfrm>
            <a:off x="9171432" y="1399032"/>
            <a:ext cx="457200" cy="457200"/>
          </a:xfrm>
          <a:prstGeom prst="ellipse">
            <a:avLst/>
          </a:prstGeom>
          <a:solidFill>
            <a:schemeClr val="tx2"/>
          </a:solidFill>
          <a:ln/>
        </p:spPr>
      </p:sp>
      <p:pic>
        <p:nvPicPr>
          <p:cNvPr id="6" name="Single source of truth icon" descr="preencoded.png">    </p:cNvPr>
          <p:cNvPicPr>
            <a:picLocks noChangeAspect="1"/>
          </p:cNvPicPr>
          <p:nvPr/>
        </p:nvPicPr>
        <p:blipFill>
          <a:blip r:embed="rId2"/>
          <a:stretch>
            <a:fillRect/>
          </a:stretch>
        </p:blipFill>
        <p:spPr>
          <a:xfrm>
            <a:off x="9290304" y="1517904"/>
            <a:ext cx="219456" cy="219456"/>
          </a:xfrm>
          <a:prstGeom prst="rect">
            <a:avLst/>
          </a:prstGeom>
        </p:spPr>
      </p:pic>
      <p:sp>
        <p:nvSpPr>
          <p:cNvPr id="7" name="Single source of truth title"/>
          <p:cNvSpPr txBox="1"/>
          <p:nvPr/>
        </p:nvSpPr>
        <p:spPr>
          <a:xfrm>
            <a:off x="9738360" y="1399032"/>
            <a:ext cx="1764792" cy="457200"/>
          </a:xfrm>
          <a:prstGeom prst="rect">
            <a:avLst/>
          </a:prstGeom>
          <a:noFill/>
          <a:ln/>
        </p:spPr>
        <p:txBody>
          <a:bodyPr wrap="square" lIns="0" tIns="0" rIns="0" bIns="0" rtlCol="0" anchor="ctr"/>
          <a:lstStyle/>
          <a:p>
            <a:pPr indent="0" marL="0">
              <a:buNone/>
            </a:pPr>
            <a:r>
              <a:rPr lang="en-US" sz="1400" b="1" dirty="0">
                <a:solidFill>
                  <a:schemeClr val="tx2"/>
                </a:solidFill>
              </a:rPr>
              <a:t>Single source of truth</a:t>
            </a:r>
            <a:endParaRPr lang="en-US" sz="1400" dirty="0"/>
          </a:p>
        </p:txBody>
      </p:sp>
      <p:sp>
        <p:nvSpPr>
          <p:cNvPr id="8" name="Single source of truth text"/>
          <p:cNvSpPr txBox="1"/>
          <p:nvPr/>
        </p:nvSpPr>
        <p:spPr>
          <a:xfrm>
            <a:off x="9171432" y="1947672"/>
            <a:ext cx="2304288" cy="658368"/>
          </a:xfrm>
          <a:prstGeom prst="rect">
            <a:avLst/>
          </a:prstGeom>
          <a:noFill/>
          <a:ln/>
        </p:spPr>
        <p:txBody>
          <a:bodyPr wrap="square" lIns="0" tIns="0" rIns="0" bIns="0" rtlCol="0" anchor="t"/>
          <a:lstStyle/>
          <a:p>
            <a:pPr indent="0" marL="0">
              <a:buNone/>
            </a:pPr>
            <a:r>
              <a:rPr lang="en-US" sz="1250" dirty="0">
                <a:solidFill>
                  <a:schemeClr val="tx1"/>
                </a:solidFill>
              </a:rPr>
              <a:t>One CFG dict drives every stage and is saved inside each checkpoint.</a:t>
            </a:r>
            <a:endParaRPr lang="en-US" sz="1250" dirty="0"/>
          </a:p>
        </p:txBody>
      </p:sp>
      <p:sp>
        <p:nvSpPr>
          <p:cNvPr id="9" name="No patient leakage card"/>
          <p:cNvSpPr/>
          <p:nvPr/>
        </p:nvSpPr>
        <p:spPr>
          <a:xfrm>
            <a:off x="9006840" y="2807208"/>
            <a:ext cx="2633472" cy="1417320"/>
          </a:xfrm>
          <a:prstGeom prst="roundRect">
            <a:avLst>
              <a:gd name="adj" fmla="val 5161"/>
            </a:avLst>
          </a:prstGeom>
          <a:solidFill>
            <a:schemeClr val="bg2"/>
          </a:solidFill>
          <a:ln/>
        </p:spPr>
      </p:sp>
      <p:sp>
        <p:nvSpPr>
          <p:cNvPr id="10" name="No patient leakage circle"/>
          <p:cNvSpPr/>
          <p:nvPr/>
        </p:nvSpPr>
        <p:spPr>
          <a:xfrm>
            <a:off x="9171432" y="2971800"/>
            <a:ext cx="457200" cy="457200"/>
          </a:xfrm>
          <a:prstGeom prst="ellipse">
            <a:avLst/>
          </a:prstGeom>
          <a:solidFill>
            <a:schemeClr val="accent2"/>
          </a:solidFill>
          <a:ln/>
        </p:spPr>
      </p:sp>
      <p:pic>
        <p:nvPicPr>
          <p:cNvPr id="11" name="No patient leakage icon" descr="preencoded.png">    </p:cNvPr>
          <p:cNvPicPr>
            <a:picLocks noChangeAspect="1"/>
          </p:cNvPicPr>
          <p:nvPr/>
        </p:nvPicPr>
        <p:blipFill>
          <a:blip r:embed="rId3"/>
          <a:stretch>
            <a:fillRect/>
          </a:stretch>
        </p:blipFill>
        <p:spPr>
          <a:xfrm>
            <a:off x="9290304" y="3090672"/>
            <a:ext cx="219456" cy="219456"/>
          </a:xfrm>
          <a:prstGeom prst="rect">
            <a:avLst/>
          </a:prstGeom>
        </p:spPr>
      </p:pic>
      <p:sp>
        <p:nvSpPr>
          <p:cNvPr id="12" name="No patient leakage title"/>
          <p:cNvSpPr txBox="1"/>
          <p:nvPr/>
        </p:nvSpPr>
        <p:spPr>
          <a:xfrm>
            <a:off x="9738360" y="2971800"/>
            <a:ext cx="1764792" cy="457200"/>
          </a:xfrm>
          <a:prstGeom prst="rect">
            <a:avLst/>
          </a:prstGeom>
          <a:noFill/>
          <a:ln/>
        </p:spPr>
        <p:txBody>
          <a:bodyPr wrap="square" lIns="0" tIns="0" rIns="0" bIns="0" rtlCol="0" anchor="ctr"/>
          <a:lstStyle/>
          <a:p>
            <a:pPr indent="0" marL="0">
              <a:buNone/>
            </a:pPr>
            <a:r>
              <a:rPr lang="en-US" sz="1400" b="1" dirty="0">
                <a:solidFill>
                  <a:schemeClr val="tx2"/>
                </a:solidFill>
              </a:rPr>
              <a:t>No patient leakage</a:t>
            </a:r>
            <a:endParaRPr lang="en-US" sz="1400" dirty="0"/>
          </a:p>
        </p:txBody>
      </p:sp>
      <p:sp>
        <p:nvSpPr>
          <p:cNvPr id="13" name="No patient leakage text"/>
          <p:cNvSpPr txBox="1"/>
          <p:nvPr/>
        </p:nvSpPr>
        <p:spPr>
          <a:xfrm>
            <a:off x="9171432" y="3520440"/>
            <a:ext cx="2304288" cy="658368"/>
          </a:xfrm>
          <a:prstGeom prst="rect">
            <a:avLst/>
          </a:prstGeom>
          <a:noFill/>
          <a:ln/>
        </p:spPr>
        <p:txBody>
          <a:bodyPr wrap="square" lIns="0" tIns="0" rIns="0" bIns="0" rtlCol="0" anchor="t"/>
          <a:lstStyle/>
          <a:p>
            <a:pPr indent="0" marL="0">
              <a:buNone/>
            </a:pPr>
            <a:r>
              <a:rPr lang="en-US" sz="1250" dirty="0">
                <a:solidFill>
                  <a:schemeClr val="tx1"/>
                </a:solidFill>
              </a:rPr>
              <a:t>Stratified 5-fold split assigned per patient, never per image.</a:t>
            </a:r>
            <a:endParaRPr lang="en-US" sz="1250" dirty="0"/>
          </a:p>
        </p:txBody>
      </p:sp>
      <p:sp>
        <p:nvSpPr>
          <p:cNvPr id="14" name="Agile + Git card"/>
          <p:cNvSpPr/>
          <p:nvPr/>
        </p:nvSpPr>
        <p:spPr>
          <a:xfrm>
            <a:off x="9006840" y="4379976"/>
            <a:ext cx="2633472" cy="1417320"/>
          </a:xfrm>
          <a:prstGeom prst="roundRect">
            <a:avLst>
              <a:gd name="adj" fmla="val 5161"/>
            </a:avLst>
          </a:prstGeom>
          <a:solidFill>
            <a:schemeClr val="bg2"/>
          </a:solidFill>
          <a:ln/>
        </p:spPr>
      </p:sp>
      <p:sp>
        <p:nvSpPr>
          <p:cNvPr id="15" name="Agile + Git circle"/>
          <p:cNvSpPr/>
          <p:nvPr/>
        </p:nvSpPr>
        <p:spPr>
          <a:xfrm>
            <a:off x="9171432" y="4544568"/>
            <a:ext cx="457200" cy="457200"/>
          </a:xfrm>
          <a:prstGeom prst="ellipse">
            <a:avLst/>
          </a:prstGeom>
          <a:solidFill>
            <a:schemeClr val="accent1"/>
          </a:solidFill>
          <a:ln/>
        </p:spPr>
      </p:sp>
      <p:pic>
        <p:nvPicPr>
          <p:cNvPr id="16" name="Agile + Git icon" descr="preencoded.png">    </p:cNvPr>
          <p:cNvPicPr>
            <a:picLocks noChangeAspect="1"/>
          </p:cNvPicPr>
          <p:nvPr/>
        </p:nvPicPr>
        <p:blipFill>
          <a:blip r:embed="rId4"/>
          <a:stretch>
            <a:fillRect/>
          </a:stretch>
        </p:blipFill>
        <p:spPr>
          <a:xfrm>
            <a:off x="9290304" y="4663440"/>
            <a:ext cx="219456" cy="219456"/>
          </a:xfrm>
          <a:prstGeom prst="rect">
            <a:avLst/>
          </a:prstGeom>
        </p:spPr>
      </p:pic>
      <p:sp>
        <p:nvSpPr>
          <p:cNvPr id="17" name="Agile + Git title"/>
          <p:cNvSpPr txBox="1"/>
          <p:nvPr/>
        </p:nvSpPr>
        <p:spPr>
          <a:xfrm>
            <a:off x="9738360" y="4544568"/>
            <a:ext cx="1764792" cy="457200"/>
          </a:xfrm>
          <a:prstGeom prst="rect">
            <a:avLst/>
          </a:prstGeom>
          <a:noFill/>
          <a:ln/>
        </p:spPr>
        <p:txBody>
          <a:bodyPr wrap="square" lIns="0" tIns="0" rIns="0" bIns="0" rtlCol="0" anchor="ctr"/>
          <a:lstStyle/>
          <a:p>
            <a:pPr indent="0" marL="0">
              <a:buNone/>
            </a:pPr>
            <a:r>
              <a:rPr lang="en-US" sz="1400" b="1" dirty="0">
                <a:solidFill>
                  <a:schemeClr val="tx2"/>
                </a:solidFill>
              </a:rPr>
              <a:t>Agile + Git</a:t>
            </a:r>
            <a:endParaRPr lang="en-US" sz="1400" dirty="0"/>
          </a:p>
        </p:txBody>
      </p:sp>
      <p:sp>
        <p:nvSpPr>
          <p:cNvPr id="18" name="Agile + Git text"/>
          <p:cNvSpPr txBox="1"/>
          <p:nvPr/>
        </p:nvSpPr>
        <p:spPr>
          <a:xfrm>
            <a:off x="9171432" y="5093208"/>
            <a:ext cx="2304288" cy="658368"/>
          </a:xfrm>
          <a:prstGeom prst="rect">
            <a:avLst/>
          </a:prstGeom>
          <a:noFill/>
          <a:ln/>
        </p:spPr>
        <p:txBody>
          <a:bodyPr wrap="square" lIns="0" tIns="0" rIns="0" bIns="0" rtlCol="0" anchor="t"/>
          <a:lstStyle/>
          <a:p>
            <a:pPr indent="0" marL="0">
              <a:buNone/>
            </a:pPr>
            <a:r>
              <a:rPr lang="en-US" sz="1250" dirty="0">
                <a:solidFill>
                  <a:schemeClr val="tx1"/>
                </a:solidFill>
              </a:rPr>
              <a:t>2-week sprints, feature branches, pull requests, fixed seeds.</a:t>
            </a:r>
            <a:endParaRPr lang="en-US" sz="125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57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2800" b="1" dirty="0">
                <a:solidFill>
                  <a:schemeClr val="tx2"/>
                </a:solidFill>
              </a:rPr>
              <a:t>Methodology ② · Model: two encoders fused by a [CLS] transformer</a:t>
            </a:r>
            <a:endParaRPr lang="en-US" sz="2800" dirty="0"/>
          </a:p>
        </p:txBody>
      </p:sp>
      <p:pic>
        <p:nvPicPr>
          <p:cNvPr id="3" name="Model diagram" descr="Dual-encoder multimodal transformer architecture">    </p:cNvPr>
          <p:cNvPicPr>
            <a:picLocks noChangeAspect="1"/>
          </p:cNvPicPr>
          <p:nvPr/>
        </p:nvPicPr>
        <p:blipFill>
          <a:blip r:embed="rId1"/>
          <a:stretch>
            <a:fillRect/>
          </a:stretch>
        </p:blipFill>
        <p:spPr>
          <a:xfrm>
            <a:off x="838048" y="1188720"/>
            <a:ext cx="10515600" cy="4439920"/>
          </a:xfrm>
          <a:prstGeom prst="rect">
            <a:avLst/>
          </a:prstGeom>
        </p:spPr>
      </p:pic>
      <p:sp>
        <p:nvSpPr>
          <p:cNvPr id="4" name="Chip 0"/>
          <p:cNvSpPr/>
          <p:nvPr/>
        </p:nvSpPr>
        <p:spPr>
          <a:xfrm>
            <a:off x="548640" y="5669280"/>
            <a:ext cx="2651760" cy="603504"/>
          </a:xfrm>
          <a:prstGeom prst="roundRect">
            <a:avLst>
              <a:gd name="adj" fmla="val 12121"/>
            </a:avLst>
          </a:prstGeom>
          <a:solidFill>
            <a:schemeClr val="bg2"/>
          </a:solidFill>
          <a:ln/>
        </p:spPr>
      </p:sp>
      <p:sp>
        <p:nvSpPr>
          <p:cNvPr id="5" name="Chip 0 text"/>
          <p:cNvSpPr txBox="1"/>
          <p:nvPr/>
        </p:nvSpPr>
        <p:spPr>
          <a:xfrm>
            <a:off x="685800" y="5669280"/>
            <a:ext cx="2377440" cy="603504"/>
          </a:xfrm>
          <a:prstGeom prst="rect">
            <a:avLst/>
          </a:prstGeom>
          <a:noFill/>
          <a:ln/>
        </p:spPr>
        <p:txBody>
          <a:bodyPr wrap="square" lIns="0" tIns="0" rIns="0" bIns="0" rtlCol="0" anchor="ctr"/>
          <a:lstStyle/>
          <a:p>
            <a:pPr indent="0" marL="0">
              <a:buNone/>
            </a:pPr>
            <a:r>
              <a:rPr lang="en-US" sz="1800" b="1" dirty="0">
                <a:solidFill>
                  <a:schemeClr val="accent1"/>
                </a:solidFill>
              </a:rPr>
              <a:t>384  </a:t>
            </a:r>
            <a:pPr indent="0" marL="0">
              <a:buNone/>
            </a:pPr>
            <a:r>
              <a:rPr lang="en-US" sz="1200" dirty="0">
                <a:solidFill>
                  <a:schemeClr val="tx1"/>
                </a:solidFill>
              </a:rPr>
              <a:t>paired patients</a:t>
            </a:r>
            <a:endParaRPr lang="en-US" sz="1400" dirty="0"/>
          </a:p>
        </p:txBody>
      </p:sp>
      <p:sp>
        <p:nvSpPr>
          <p:cNvPr id="6" name="Chip 1"/>
          <p:cNvSpPr/>
          <p:nvPr/>
        </p:nvSpPr>
        <p:spPr>
          <a:xfrm>
            <a:off x="3362858" y="5669280"/>
            <a:ext cx="2651760" cy="603504"/>
          </a:xfrm>
          <a:prstGeom prst="roundRect">
            <a:avLst>
              <a:gd name="adj" fmla="val 12121"/>
            </a:avLst>
          </a:prstGeom>
          <a:solidFill>
            <a:schemeClr val="bg2"/>
          </a:solidFill>
          <a:ln/>
        </p:spPr>
      </p:sp>
      <p:sp>
        <p:nvSpPr>
          <p:cNvPr id="7" name="Chip 1 text"/>
          <p:cNvSpPr txBox="1"/>
          <p:nvPr/>
        </p:nvSpPr>
        <p:spPr>
          <a:xfrm>
            <a:off x="3500018" y="5669280"/>
            <a:ext cx="2377440" cy="603504"/>
          </a:xfrm>
          <a:prstGeom prst="rect">
            <a:avLst/>
          </a:prstGeom>
          <a:noFill/>
          <a:ln/>
        </p:spPr>
        <p:txBody>
          <a:bodyPr wrap="square" lIns="0" tIns="0" rIns="0" bIns="0" rtlCol="0" anchor="ctr"/>
          <a:lstStyle/>
          <a:p>
            <a:pPr indent="0" marL="0">
              <a:buNone/>
            </a:pPr>
            <a:r>
              <a:rPr lang="en-US" sz="1800" b="1" dirty="0">
                <a:solidFill>
                  <a:schemeClr val="accent1"/>
                </a:solidFill>
              </a:rPr>
              <a:t>165 / 219  </a:t>
            </a:r>
            <a:pPr indent="0" marL="0">
              <a:buNone/>
            </a:pPr>
            <a:r>
              <a:rPr lang="en-US" sz="1200" dirty="0">
                <a:solidFill>
                  <a:schemeClr val="tx1"/>
                </a:solidFill>
              </a:rPr>
              <a:t>benign / PTC</a:t>
            </a:r>
            <a:endParaRPr lang="en-US" sz="1400" dirty="0"/>
          </a:p>
        </p:txBody>
      </p:sp>
      <p:sp>
        <p:nvSpPr>
          <p:cNvPr id="8" name="Chip 2"/>
          <p:cNvSpPr/>
          <p:nvPr/>
        </p:nvSpPr>
        <p:spPr>
          <a:xfrm>
            <a:off x="6177077" y="5669280"/>
            <a:ext cx="2651760" cy="603504"/>
          </a:xfrm>
          <a:prstGeom prst="roundRect">
            <a:avLst>
              <a:gd name="adj" fmla="val 12121"/>
            </a:avLst>
          </a:prstGeom>
          <a:solidFill>
            <a:schemeClr val="bg2"/>
          </a:solidFill>
          <a:ln/>
        </p:spPr>
      </p:sp>
      <p:sp>
        <p:nvSpPr>
          <p:cNvPr id="9" name="Chip 2 text"/>
          <p:cNvSpPr txBox="1"/>
          <p:nvPr/>
        </p:nvSpPr>
        <p:spPr>
          <a:xfrm>
            <a:off x="6314237" y="5669280"/>
            <a:ext cx="2377440" cy="603504"/>
          </a:xfrm>
          <a:prstGeom prst="rect">
            <a:avLst/>
          </a:prstGeom>
          <a:noFill/>
          <a:ln/>
        </p:spPr>
        <p:txBody>
          <a:bodyPr wrap="square" lIns="0" tIns="0" rIns="0" bIns="0" rtlCol="0" anchor="ctr"/>
          <a:lstStyle/>
          <a:p>
            <a:pPr indent="0" marL="0">
              <a:buNone/>
            </a:pPr>
            <a:r>
              <a:rPr lang="en-US" sz="1800" b="1" dirty="0">
                <a:solidFill>
                  <a:schemeClr val="accent1"/>
                </a:solidFill>
              </a:rPr>
              <a:t>1,332  </a:t>
            </a:r>
            <a:pPr indent="0" marL="0">
              <a:buNone/>
            </a:pPr>
            <a:r>
              <a:rPr lang="en-US" sz="1200" dirty="0">
                <a:solidFill>
                  <a:schemeClr val="tx1"/>
                </a:solidFill>
              </a:rPr>
              <a:t>cytology patches (2–7 each)</a:t>
            </a:r>
            <a:endParaRPr lang="en-US" sz="1400" dirty="0"/>
          </a:p>
        </p:txBody>
      </p:sp>
      <p:sp>
        <p:nvSpPr>
          <p:cNvPr id="10" name="Chip 3"/>
          <p:cNvSpPr/>
          <p:nvPr/>
        </p:nvSpPr>
        <p:spPr>
          <a:xfrm>
            <a:off x="8991295" y="5669280"/>
            <a:ext cx="2651760" cy="603504"/>
          </a:xfrm>
          <a:prstGeom prst="roundRect">
            <a:avLst>
              <a:gd name="adj" fmla="val 12121"/>
            </a:avLst>
          </a:prstGeom>
          <a:solidFill>
            <a:schemeClr val="bg2"/>
          </a:solidFill>
          <a:ln/>
        </p:spPr>
      </p:sp>
      <p:sp>
        <p:nvSpPr>
          <p:cNvPr id="11" name="Chip 3 text"/>
          <p:cNvSpPr txBox="1"/>
          <p:nvPr/>
        </p:nvSpPr>
        <p:spPr>
          <a:xfrm>
            <a:off x="9128455" y="5669280"/>
            <a:ext cx="2377440" cy="603504"/>
          </a:xfrm>
          <a:prstGeom prst="rect">
            <a:avLst/>
          </a:prstGeom>
          <a:noFill/>
          <a:ln/>
        </p:spPr>
        <p:txBody>
          <a:bodyPr wrap="square" lIns="0" tIns="0" rIns="0" bIns="0" rtlCol="0" anchor="ctr"/>
          <a:lstStyle/>
          <a:p>
            <a:pPr indent="0" marL="0">
              <a:buNone/>
            </a:pPr>
            <a:r>
              <a:rPr lang="en-US" sz="1800" b="1" dirty="0">
                <a:solidFill>
                  <a:schemeClr val="accent1"/>
                </a:solidFill>
              </a:rPr>
              <a:t>224 px  </a:t>
            </a:r>
            <a:pPr indent="0" marL="0">
              <a:buNone/>
            </a:pPr>
            <a:r>
              <a:rPr lang="en-US" sz="1200" dirty="0">
                <a:solidFill>
                  <a:schemeClr val="tx1"/>
                </a:solidFill>
              </a:rPr>
              <a:t>ImageNet norm + augmentation</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57F"/>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2800" b="1" dirty="0">
                <a:solidFill>
                  <a:schemeClr val="tx2"/>
                </a:solidFill>
              </a:rPr>
              <a:t>Methodology ③ · Overfitting controls and first results</a:t>
            </a:r>
            <a:endParaRPr lang="en-US" sz="2800" dirty="0"/>
          </a:p>
        </p:txBody>
      </p:sp>
      <p:graphicFrame>
        <p:nvGraphicFramePr>
          <p:cNvPr id="9" name="Recipe table"/>
          <p:cNvGraphicFramePr>
            <a:graphicFrameLocks noGrp="1"/>
          </p:cNvGraphicFramePr>
          <p:nvPr>
            <p:extLst>
              <p:ext uri="{D42A27DB-BD31-4B8C-83A1-F6EECF244321}">
                <p14:modId xmlns:p14="http://schemas.microsoft.com/office/powerpoint/2010/main" val="1579011935"/>
              </p:ext>
            </p:extLst>
          </p:nvPr>
        </p:nvGraphicFramePr>
        <p:xfrm>
          <a:off x="548640" y="1234440"/>
          <a:ext cx="5303520" cy="914400"/>
        </p:xfrm>
        <a:graphic>
          <a:graphicData uri="http://schemas.openxmlformats.org/drawingml/2006/table">
            <a:tbl>
              <a:tblPr/>
              <a:tblGrid>
                <a:gridCol w="1737360"/>
                <a:gridCol w="1554480"/>
                <a:gridCol w="201168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Component</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1B2A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Baseline</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1B2A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Current</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1B2A4A"/>
                    </a:solidFill>
                  </a:tcPr>
                </a:tc>
              </a:tr>
              <a:tr h="310896">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Backbone</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Fully unfrozen</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c>
                  <a:txBody>
                    <a:bodyPr/>
                    <a:lstStyle/>
                    <a:p>
                      <a:pPr indent="0" marL="0">
                        <a:buNone/>
                      </a:pPr>
                      <a:r>
                        <a:rPr lang="en-US" sz="1200" b="1" dirty="0">
                          <a:solidFill>
                            <a:srgbClr val="E86B4C"/>
                          </a:solidFill>
                          <a:latin typeface="Calibri" pitchFamily="34" charset="0"/>
                          <a:ea typeface="Calibri" pitchFamily="34" charset="-122"/>
                          <a:cs typeface="Calibri" pitchFamily="34" charset="-120"/>
                        </a:rPr>
                        <a:t>Early stages frozen</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Dropout</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3F6FA"/>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0.1</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3F6FA"/>
                    </a:solidFill>
                  </a:tcPr>
                </a:tc>
                <a:tc>
                  <a:txBody>
                    <a:bodyPr/>
                    <a:lstStyle/>
                    <a:p>
                      <a:pPr indent="0" marL="0">
                        <a:buNone/>
                      </a:pPr>
                      <a:r>
                        <a:rPr lang="en-US" sz="1200" b="1" dirty="0">
                          <a:solidFill>
                            <a:srgbClr val="E86B4C"/>
                          </a:solidFill>
                          <a:latin typeface="Calibri" pitchFamily="34" charset="0"/>
                          <a:ea typeface="Calibri" pitchFamily="34" charset="-122"/>
                          <a:cs typeface="Calibri" pitchFamily="34" charset="-120"/>
                        </a:rPr>
                        <a:t>0.4</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3F6FA"/>
                    </a:solidFill>
                  </a:tcPr>
                </a:tc>
              </a:tr>
              <a:tr h="310896">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Weight decay</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1e-4</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c>
                  <a:txBody>
                    <a:bodyPr/>
                    <a:lstStyle/>
                    <a:p>
                      <a:pPr indent="0" marL="0">
                        <a:buNone/>
                      </a:pPr>
                      <a:r>
                        <a:rPr lang="en-US" sz="1200" b="1" dirty="0">
                          <a:solidFill>
                            <a:srgbClr val="E86B4C"/>
                          </a:solidFill>
                          <a:latin typeface="Calibri" pitchFamily="34" charset="0"/>
                          <a:ea typeface="Calibri" pitchFamily="34" charset="-122"/>
                          <a:cs typeface="Calibri" pitchFamily="34" charset="-120"/>
                        </a:rPr>
                        <a:t>1e-3</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Learning rate</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3F6FA"/>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1e-4</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3F6FA"/>
                    </a:solidFill>
                  </a:tcPr>
                </a:tc>
                <a:tc>
                  <a:txBody>
                    <a:bodyPr/>
                    <a:lstStyle/>
                    <a:p>
                      <a:pPr indent="0" marL="0">
                        <a:buNone/>
                      </a:pPr>
                      <a:r>
                        <a:rPr lang="en-US" sz="1200" b="1" dirty="0">
                          <a:solidFill>
                            <a:srgbClr val="E86B4C"/>
                          </a:solidFill>
                          <a:latin typeface="Calibri" pitchFamily="34" charset="0"/>
                          <a:ea typeface="Calibri" pitchFamily="34" charset="-122"/>
                          <a:cs typeface="Calibri" pitchFamily="34" charset="-120"/>
                        </a:rPr>
                        <a:t>3e-5 + warm-up/cosine</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3F6FA"/>
                    </a:solidFill>
                  </a:tcPr>
                </a:tc>
              </a:tr>
              <a:tr h="310896">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Transformer</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2 layers × 768</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c>
                  <a:txBody>
                    <a:bodyPr/>
                    <a:lstStyle/>
                    <a:p>
                      <a:pPr indent="0" marL="0">
                        <a:buNone/>
                      </a:pPr>
                      <a:r>
                        <a:rPr lang="en-US" sz="1200" b="1" dirty="0">
                          <a:solidFill>
                            <a:srgbClr val="E86B4C"/>
                          </a:solidFill>
                          <a:latin typeface="Calibri" pitchFamily="34" charset="0"/>
                          <a:ea typeface="Calibri" pitchFamily="34" charset="-122"/>
                          <a:cs typeface="Calibri" pitchFamily="34" charset="-120"/>
                        </a:rPr>
                        <a:t>1 layer × 512</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Label smoothing</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3F6FA"/>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3F6FA"/>
                    </a:solidFill>
                  </a:tcPr>
                </a:tc>
                <a:tc>
                  <a:txBody>
                    <a:bodyPr/>
                    <a:lstStyle/>
                    <a:p>
                      <a:pPr indent="0" marL="0">
                        <a:buNone/>
                      </a:pPr>
                      <a:r>
                        <a:rPr lang="en-US" sz="1200" b="1" dirty="0">
                          <a:solidFill>
                            <a:srgbClr val="E86B4C"/>
                          </a:solidFill>
                          <a:latin typeface="Calibri" pitchFamily="34" charset="0"/>
                          <a:ea typeface="Calibri" pitchFamily="34" charset="-122"/>
                          <a:cs typeface="Calibri" pitchFamily="34" charset="-120"/>
                        </a:rPr>
                        <a:t>0.05</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3F6FA"/>
                    </a:solidFill>
                  </a:tcPr>
                </a:tc>
              </a:tr>
              <a:tr h="310896">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Gradient clipping</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c>
                  <a:txBody>
                    <a:bodyPr/>
                    <a:lstStyle/>
                    <a:p>
                      <a:pPr indent="0" marL="0">
                        <a:buNone/>
                      </a:pPr>
                      <a:r>
                        <a:rPr lang="en-US" sz="1200" b="1" dirty="0">
                          <a:solidFill>
                            <a:srgbClr val="E86B4C"/>
                          </a:solidFill>
                          <a:latin typeface="Calibri" pitchFamily="34" charset="0"/>
                          <a:ea typeface="Calibri" pitchFamily="34" charset="-122"/>
                          <a:cs typeface="Calibri" pitchFamily="34" charset="-120"/>
                        </a:rPr>
                        <a:t>L2 norm 1.0</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Selection</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3F6FA"/>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3F6FA"/>
                    </a:solidFill>
                  </a:tcPr>
                </a:tc>
                <a:tc>
                  <a:txBody>
                    <a:bodyPr/>
                    <a:lstStyle/>
                    <a:p>
                      <a:pPr indent="0" marL="0">
                        <a:buNone/>
                      </a:pPr>
                      <a:r>
                        <a:rPr lang="en-US" sz="1200" b="1" dirty="0">
                          <a:solidFill>
                            <a:srgbClr val="E86B4C"/>
                          </a:solidFill>
                          <a:latin typeface="Calibri" pitchFamily="34" charset="0"/>
                          <a:ea typeface="Calibri" pitchFamily="34" charset="-122"/>
                          <a:cs typeface="Calibri" pitchFamily="34" charset="-120"/>
                        </a:rPr>
                        <a:t>Best val. AUROC</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3F6FA"/>
                    </a:solidFill>
                  </a:tcPr>
                </a:tc>
              </a:tr>
            </a:tbl>
          </a:graphicData>
        </a:graphic>
      </p:graphicFrame>
      <p:pic>
        <p:nvPicPr>
          <p:cNvPr id="4" name="Attention TP strip" descr="True-positive patient: ultrasound and cytology patches with relevance scores">    </p:cNvPr>
          <p:cNvPicPr>
            <a:picLocks noChangeAspect="1"/>
          </p:cNvPicPr>
          <p:nvPr/>
        </p:nvPicPr>
        <p:blipFill>
          <a:blip r:embed="rId1"/>
          <a:stretch>
            <a:fillRect/>
          </a:stretch>
        </p:blipFill>
        <p:spPr>
          <a:xfrm>
            <a:off x="548640" y="4297680"/>
            <a:ext cx="5303520" cy="1090333"/>
          </a:xfrm>
          <a:prstGeom prst="rect">
            <a:avLst/>
          </a:prstGeom>
        </p:spPr>
      </p:pic>
      <p:sp>
        <p:nvSpPr>
          <p:cNvPr id="5" name="Strip caption"/>
          <p:cNvSpPr txBox="1"/>
          <p:nvPr/>
        </p:nvSpPr>
        <p:spPr>
          <a:xfrm>
            <a:off x="548640" y="5440680"/>
            <a:ext cx="5303520" cy="457200"/>
          </a:xfrm>
          <a:prstGeom prst="rect">
            <a:avLst/>
          </a:prstGeom>
          <a:noFill/>
          <a:ln/>
        </p:spPr>
        <p:txBody>
          <a:bodyPr wrap="square" lIns="0" tIns="0" rIns="0" bIns="0" rtlCol="0" anchor="t"/>
          <a:lstStyle/>
          <a:p>
            <a:pPr indent="0" marL="0">
              <a:buNone/>
            </a:pPr>
            <a:r>
              <a:rPr lang="en-US" sz="1100" i="1" dirty="0">
                <a:solidFill>
                  <a:schemeClr val="accent3"/>
                </a:solidFill>
              </a:rPr>
              <a:t>Patch relevance (cosine to fused [CLS]) for a true-positive patient, P(PTC) = 0.912</a:t>
            </a:r>
            <a:endParaRPr lang="en-US" sz="1100" dirty="0"/>
          </a:p>
        </p:txBody>
      </p:sp>
      <p:sp>
        <p:nvSpPr>
          <p:cNvPr id="6" name="Callout AUROC"/>
          <p:cNvSpPr/>
          <p:nvPr/>
        </p:nvSpPr>
        <p:spPr>
          <a:xfrm>
            <a:off x="6172200" y="1234440"/>
            <a:ext cx="1700784" cy="1234440"/>
          </a:xfrm>
          <a:prstGeom prst="roundRect">
            <a:avLst>
              <a:gd name="adj" fmla="val 5926"/>
            </a:avLst>
          </a:prstGeom>
          <a:solidFill>
            <a:schemeClr val="bg1"/>
          </a:solidFill>
          <a:ln/>
          <a:effectLst>
            <a:outerShdw sx="100000" sy="100000" kx="0" ky="0" algn="bl" rotWithShape="0" blurRad="101600" dist="25400" dir="5400000">
              <a:srgbClr val="1B2A4A">
                <a:alpha val="12000"/>
              </a:srgbClr>
            </a:outerShdw>
          </a:effectLst>
        </p:spPr>
      </p:sp>
      <p:sp>
        <p:nvSpPr>
          <p:cNvPr id="7" name="AUROC value"/>
          <p:cNvSpPr txBox="1"/>
          <p:nvPr/>
        </p:nvSpPr>
        <p:spPr>
          <a:xfrm>
            <a:off x="6263640" y="1307592"/>
            <a:ext cx="1517904" cy="502920"/>
          </a:xfrm>
          <a:prstGeom prst="rect">
            <a:avLst/>
          </a:prstGeom>
          <a:noFill/>
          <a:ln/>
        </p:spPr>
        <p:txBody>
          <a:bodyPr wrap="square" lIns="0" tIns="0" rIns="0" bIns="0" rtlCol="0" anchor="ctr"/>
          <a:lstStyle/>
          <a:p>
            <a:pPr algn="ctr" indent="0" marL="0">
              <a:buNone/>
            </a:pPr>
            <a:r>
              <a:rPr lang="en-US" sz="2600" b="1" dirty="0">
                <a:solidFill>
                  <a:schemeClr val="accent1"/>
                </a:solidFill>
              </a:rPr>
              <a:t>0.979</a:t>
            </a:r>
            <a:endParaRPr lang="en-US" sz="2600" dirty="0"/>
          </a:p>
        </p:txBody>
      </p:sp>
      <p:sp>
        <p:nvSpPr>
          <p:cNvPr id="8" name="AUROC label"/>
          <p:cNvSpPr txBox="1"/>
          <p:nvPr/>
        </p:nvSpPr>
        <p:spPr>
          <a:xfrm>
            <a:off x="6263640" y="1810512"/>
            <a:ext cx="1517904" cy="274320"/>
          </a:xfrm>
          <a:prstGeom prst="rect">
            <a:avLst/>
          </a:prstGeom>
          <a:noFill/>
          <a:ln/>
        </p:spPr>
        <p:txBody>
          <a:bodyPr wrap="square" lIns="0" tIns="0" rIns="0" bIns="0" rtlCol="0" anchor="t"/>
          <a:lstStyle/>
          <a:p>
            <a:pPr algn="ctr" indent="0" marL="0">
              <a:buNone/>
            </a:pPr>
            <a:r>
              <a:rPr lang="en-US" sz="1300" b="1" dirty="0">
                <a:solidFill>
                  <a:schemeClr val="tx2"/>
                </a:solidFill>
              </a:rPr>
              <a:t>AUROC</a:t>
            </a:r>
            <a:endParaRPr lang="en-US" sz="1300" dirty="0"/>
          </a:p>
        </p:txBody>
      </p:sp>
      <p:sp>
        <p:nvSpPr>
          <p:cNvPr id="9" name="AUROC detail"/>
          <p:cNvSpPr txBox="1"/>
          <p:nvPr/>
        </p:nvSpPr>
        <p:spPr>
          <a:xfrm>
            <a:off x="6263640" y="2084832"/>
            <a:ext cx="1517904" cy="320040"/>
          </a:xfrm>
          <a:prstGeom prst="rect">
            <a:avLst/>
          </a:prstGeom>
          <a:noFill/>
          <a:ln/>
        </p:spPr>
        <p:txBody>
          <a:bodyPr wrap="square" lIns="0" tIns="0" rIns="0" bIns="0" rtlCol="0" anchor="t"/>
          <a:lstStyle/>
          <a:p>
            <a:pPr algn="ctr" indent="0" marL="0">
              <a:buNone/>
            </a:pPr>
            <a:r>
              <a:rPr lang="en-US" sz="1050" dirty="0">
                <a:solidFill>
                  <a:schemeClr val="accent3"/>
                </a:solidFill>
              </a:rPr>
              <a:t>95% CI 0.948–0.997</a:t>
            </a:r>
            <a:endParaRPr lang="en-US" sz="1050" dirty="0"/>
          </a:p>
        </p:txBody>
      </p:sp>
      <p:sp>
        <p:nvSpPr>
          <p:cNvPr id="10" name="Callout Sensitivity"/>
          <p:cNvSpPr/>
          <p:nvPr/>
        </p:nvSpPr>
        <p:spPr>
          <a:xfrm>
            <a:off x="8057236" y="1234440"/>
            <a:ext cx="1700784" cy="1234440"/>
          </a:xfrm>
          <a:prstGeom prst="roundRect">
            <a:avLst>
              <a:gd name="adj" fmla="val 5926"/>
            </a:avLst>
          </a:prstGeom>
          <a:solidFill>
            <a:schemeClr val="bg1"/>
          </a:solidFill>
          <a:ln/>
          <a:effectLst>
            <a:outerShdw sx="100000" sy="100000" kx="0" ky="0" algn="bl" rotWithShape="0" blurRad="101600" dist="25400" dir="5400000">
              <a:srgbClr val="1B2A4A">
                <a:alpha val="12000"/>
              </a:srgbClr>
            </a:outerShdw>
          </a:effectLst>
        </p:spPr>
      </p:sp>
      <p:sp>
        <p:nvSpPr>
          <p:cNvPr id="11" name="Sensitivity value"/>
          <p:cNvSpPr txBox="1"/>
          <p:nvPr/>
        </p:nvSpPr>
        <p:spPr>
          <a:xfrm>
            <a:off x="8148676" y="1307592"/>
            <a:ext cx="1517904" cy="502920"/>
          </a:xfrm>
          <a:prstGeom prst="rect">
            <a:avLst/>
          </a:prstGeom>
          <a:noFill/>
          <a:ln/>
        </p:spPr>
        <p:txBody>
          <a:bodyPr wrap="square" lIns="0" tIns="0" rIns="0" bIns="0" rtlCol="0" anchor="ctr"/>
          <a:lstStyle/>
          <a:p>
            <a:pPr algn="ctr" indent="0" marL="0">
              <a:buNone/>
            </a:pPr>
            <a:r>
              <a:rPr lang="en-US" sz="2600" b="1" dirty="0">
                <a:solidFill>
                  <a:schemeClr val="accent1"/>
                </a:solidFill>
              </a:rPr>
              <a:t>1.00</a:t>
            </a:r>
            <a:endParaRPr lang="en-US" sz="2600" dirty="0"/>
          </a:p>
        </p:txBody>
      </p:sp>
      <p:sp>
        <p:nvSpPr>
          <p:cNvPr id="12" name="Sensitivity label"/>
          <p:cNvSpPr txBox="1"/>
          <p:nvPr/>
        </p:nvSpPr>
        <p:spPr>
          <a:xfrm>
            <a:off x="8148676" y="1810512"/>
            <a:ext cx="1517904" cy="274320"/>
          </a:xfrm>
          <a:prstGeom prst="rect">
            <a:avLst/>
          </a:prstGeom>
          <a:noFill/>
          <a:ln/>
        </p:spPr>
        <p:txBody>
          <a:bodyPr wrap="square" lIns="0" tIns="0" rIns="0" bIns="0" rtlCol="0" anchor="t"/>
          <a:lstStyle/>
          <a:p>
            <a:pPr algn="ctr" indent="0" marL="0">
              <a:buNone/>
            </a:pPr>
            <a:r>
              <a:rPr lang="en-US" sz="1300" b="1" dirty="0">
                <a:solidFill>
                  <a:schemeClr val="tx2"/>
                </a:solidFill>
              </a:rPr>
              <a:t>Sensitivity</a:t>
            </a:r>
            <a:endParaRPr lang="en-US" sz="1300" dirty="0"/>
          </a:p>
        </p:txBody>
      </p:sp>
      <p:sp>
        <p:nvSpPr>
          <p:cNvPr id="13" name="Sensitivity detail"/>
          <p:cNvSpPr txBox="1"/>
          <p:nvPr/>
        </p:nvSpPr>
        <p:spPr>
          <a:xfrm>
            <a:off x="8148676" y="2084832"/>
            <a:ext cx="1517904" cy="320040"/>
          </a:xfrm>
          <a:prstGeom prst="rect">
            <a:avLst/>
          </a:prstGeom>
          <a:noFill/>
          <a:ln/>
        </p:spPr>
        <p:txBody>
          <a:bodyPr wrap="square" lIns="0" tIns="0" rIns="0" bIns="0" rtlCol="0" anchor="t"/>
          <a:lstStyle/>
          <a:p>
            <a:pPr algn="ctr" indent="0" marL="0">
              <a:buNone/>
            </a:pPr>
            <a:r>
              <a:rPr lang="en-US" sz="1050" dirty="0">
                <a:solidFill>
                  <a:schemeClr val="accent3"/>
                </a:solidFill>
              </a:rPr>
              <a:t>44 / 44 PTC detected</a:t>
            </a:r>
            <a:endParaRPr lang="en-US" sz="1050" dirty="0"/>
          </a:p>
        </p:txBody>
      </p:sp>
      <p:sp>
        <p:nvSpPr>
          <p:cNvPr id="14" name="Callout Specificity"/>
          <p:cNvSpPr/>
          <p:nvPr/>
        </p:nvSpPr>
        <p:spPr>
          <a:xfrm>
            <a:off x="9942271" y="1234440"/>
            <a:ext cx="1700784" cy="1234440"/>
          </a:xfrm>
          <a:prstGeom prst="roundRect">
            <a:avLst>
              <a:gd name="adj" fmla="val 5926"/>
            </a:avLst>
          </a:prstGeom>
          <a:solidFill>
            <a:schemeClr val="bg1"/>
          </a:solidFill>
          <a:ln/>
          <a:effectLst>
            <a:outerShdw sx="100000" sy="100000" kx="0" ky="0" algn="bl" rotWithShape="0" blurRad="101600" dist="25400" dir="5400000">
              <a:srgbClr val="1B2A4A">
                <a:alpha val="12000"/>
              </a:srgbClr>
            </a:outerShdw>
          </a:effectLst>
        </p:spPr>
      </p:sp>
      <p:sp>
        <p:nvSpPr>
          <p:cNvPr id="15" name="Specificity value"/>
          <p:cNvSpPr txBox="1"/>
          <p:nvPr/>
        </p:nvSpPr>
        <p:spPr>
          <a:xfrm>
            <a:off x="10033711" y="1307592"/>
            <a:ext cx="1517904" cy="502920"/>
          </a:xfrm>
          <a:prstGeom prst="rect">
            <a:avLst/>
          </a:prstGeom>
          <a:noFill/>
          <a:ln/>
        </p:spPr>
        <p:txBody>
          <a:bodyPr wrap="square" lIns="0" tIns="0" rIns="0" bIns="0" rtlCol="0" anchor="ctr"/>
          <a:lstStyle/>
          <a:p>
            <a:pPr algn="ctr" indent="0" marL="0">
              <a:buNone/>
            </a:pPr>
            <a:r>
              <a:rPr lang="en-US" sz="2000" b="1" dirty="0">
                <a:solidFill>
                  <a:schemeClr val="accent2"/>
                </a:solidFill>
              </a:rPr>
              <a:t>0.73 → 0.85</a:t>
            </a:r>
            <a:endParaRPr lang="en-US" sz="2000" dirty="0"/>
          </a:p>
        </p:txBody>
      </p:sp>
      <p:sp>
        <p:nvSpPr>
          <p:cNvPr id="16" name="Specificity label"/>
          <p:cNvSpPr txBox="1"/>
          <p:nvPr/>
        </p:nvSpPr>
        <p:spPr>
          <a:xfrm>
            <a:off x="10033711" y="1810512"/>
            <a:ext cx="1517904" cy="274320"/>
          </a:xfrm>
          <a:prstGeom prst="rect">
            <a:avLst/>
          </a:prstGeom>
          <a:noFill/>
          <a:ln/>
        </p:spPr>
        <p:txBody>
          <a:bodyPr wrap="square" lIns="0" tIns="0" rIns="0" bIns="0" rtlCol="0" anchor="t"/>
          <a:lstStyle/>
          <a:p>
            <a:pPr algn="ctr" indent="0" marL="0">
              <a:buNone/>
            </a:pPr>
            <a:r>
              <a:rPr lang="en-US" sz="1300" b="1" dirty="0">
                <a:solidFill>
                  <a:schemeClr val="tx2"/>
                </a:solidFill>
              </a:rPr>
              <a:t>Specificity</a:t>
            </a:r>
            <a:endParaRPr lang="en-US" sz="1300" dirty="0"/>
          </a:p>
        </p:txBody>
      </p:sp>
      <p:sp>
        <p:nvSpPr>
          <p:cNvPr id="17" name="Specificity detail"/>
          <p:cNvSpPr txBox="1"/>
          <p:nvPr/>
        </p:nvSpPr>
        <p:spPr>
          <a:xfrm>
            <a:off x="10033711" y="2084832"/>
            <a:ext cx="1517904" cy="320040"/>
          </a:xfrm>
          <a:prstGeom prst="rect">
            <a:avLst/>
          </a:prstGeom>
          <a:noFill/>
          <a:ln/>
        </p:spPr>
        <p:txBody>
          <a:bodyPr wrap="square" lIns="0" tIns="0" rIns="0" bIns="0" rtlCol="0" anchor="t"/>
          <a:lstStyle/>
          <a:p>
            <a:pPr algn="ctr" indent="0" marL="0">
              <a:buNone/>
            </a:pPr>
            <a:r>
              <a:rPr lang="en-US" sz="1050" dirty="0">
                <a:solidFill>
                  <a:schemeClr val="accent3"/>
                </a:solidFill>
              </a:rPr>
              <a:t>τ = 0.5 → Youden τ* = 0.89</a:t>
            </a:r>
            <a:endParaRPr lang="en-US" sz="1050" dirty="0"/>
          </a:p>
        </p:txBody>
      </p:sp>
      <p:graphicFrame>
        <p:nvGraphicFramePr>
          <p:cNvPr id="18" name="Metrics chart" descr="Bar chart of fold-0 validation metrics"/>
          <p:cNvGraphicFramePr/>
          <p:nvPr/>
        </p:nvGraphicFramePr>
        <p:xfrm>
          <a:off x="6172200" y="2606040"/>
          <a:ext cx="5470855" cy="3337560"/>
        </p:xfrm>
        <a:graphic xmlns:a="http://schemas.openxmlformats.org/drawingml/2006/main">
          <a:graphicData uri="http://schemas.openxmlformats.org/drawingml/2006/chart">
            <c:chart xmlns:c="http://schemas.openxmlformats.org/drawingml/2006/chart" r:id="rId2"/>
          </a:graphicData>
        </a:graphic>
      </p:graphicFrame>
      <p:sp>
        <p:nvSpPr>
          <p:cNvPr id="19" name="Caveat"/>
          <p:cNvSpPr txBox="1"/>
          <p:nvPr/>
        </p:nvSpPr>
        <p:spPr>
          <a:xfrm>
            <a:off x="6172200" y="5943600"/>
            <a:ext cx="5470855" cy="365760"/>
          </a:xfrm>
          <a:prstGeom prst="rect">
            <a:avLst/>
          </a:prstGeom>
          <a:noFill/>
          <a:ln/>
        </p:spPr>
        <p:txBody>
          <a:bodyPr wrap="square" lIns="0" tIns="0" rIns="0" bIns="0" rtlCol="0" anchor="t"/>
          <a:lstStyle/>
          <a:p>
            <a:pPr indent="0" marL="0">
              <a:buNone/>
            </a:pPr>
            <a:r>
              <a:rPr lang="en-US" sz="1100" i="1" dirty="0">
                <a:solidFill>
                  <a:schemeClr val="accent1"/>
                </a:solidFill>
              </a:rPr>
              <a:t>Preliminary: one fold, checkpoint chosen on that fold → optimistic. 5-fold nested CV and calibration are planned.</a:t>
            </a:r>
            <a:endParaRPr lang="en-US" sz="11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57F"/>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2800" b="1" dirty="0">
                <a:solidFill>
                  <a:schemeClr val="tx2"/>
                </a:solidFill>
              </a:rPr>
              <a:t>Semester roadmap: from working prototype to evaluated MVP</a:t>
            </a:r>
            <a:endParaRPr lang="en-US" sz="2800" dirty="0"/>
          </a:p>
        </p:txBody>
      </p:sp>
      <p:sp>
        <p:nvSpPr>
          <p:cNvPr id="3" name="Timeline line"/>
          <p:cNvSpPr/>
          <p:nvPr/>
        </p:nvSpPr>
        <p:spPr>
          <a:xfrm>
            <a:off x="1280160" y="1828800"/>
            <a:ext cx="9631375" cy="0"/>
          </a:xfrm>
          <a:prstGeom prst="line">
            <a:avLst/>
          </a:prstGeom>
          <a:noFill/>
          <a:ln w="25400">
            <a:solidFill>
              <a:srgbClr val="56657F"/>
            </a:solidFill>
            <a:prstDash val="solid"/>
          </a:ln>
        </p:spPr>
      </p:sp>
      <p:sp>
        <p:nvSpPr>
          <p:cNvPr id="4" name="Weeks 1–3 label"/>
          <p:cNvSpPr txBox="1"/>
          <p:nvPr/>
        </p:nvSpPr>
        <p:spPr>
          <a:xfrm>
            <a:off x="548640" y="1234440"/>
            <a:ext cx="1463040" cy="320040"/>
          </a:xfrm>
          <a:prstGeom prst="rect">
            <a:avLst/>
          </a:prstGeom>
          <a:noFill/>
          <a:ln/>
        </p:spPr>
        <p:txBody>
          <a:bodyPr wrap="square" lIns="0" tIns="0" rIns="0" bIns="0" rtlCol="0" anchor="t"/>
          <a:lstStyle/>
          <a:p>
            <a:pPr algn="ctr" indent="0" marL="0">
              <a:buNone/>
            </a:pPr>
            <a:r>
              <a:rPr lang="en-US" sz="1300" b="1" dirty="0">
                <a:solidFill>
                  <a:schemeClr val="tx2"/>
                </a:solidFill>
              </a:rPr>
              <a:t>Weeks 1–3</a:t>
            </a:r>
            <a:endParaRPr lang="en-US" sz="1300" dirty="0"/>
          </a:p>
        </p:txBody>
      </p:sp>
      <p:sp>
        <p:nvSpPr>
          <p:cNvPr id="5" name="Weeks 1–3 node"/>
          <p:cNvSpPr/>
          <p:nvPr/>
        </p:nvSpPr>
        <p:spPr>
          <a:xfrm>
            <a:off x="1124712" y="1673352"/>
            <a:ext cx="310896" cy="310896"/>
          </a:xfrm>
          <a:prstGeom prst="ellipse">
            <a:avLst/>
          </a:prstGeom>
          <a:solidFill>
            <a:schemeClr val="accent5"/>
          </a:solidFill>
          <a:ln w="25400">
            <a:solidFill>
              <a:schemeClr val="bg1"/>
            </a:solidFill>
            <a:prstDash val="solid"/>
          </a:ln>
        </p:spPr>
      </p:sp>
      <p:sp>
        <p:nvSpPr>
          <p:cNvPr id="6" name="Weeks 1–3 card"/>
          <p:cNvSpPr/>
          <p:nvPr/>
        </p:nvSpPr>
        <p:spPr>
          <a:xfrm>
            <a:off x="548640" y="2194560"/>
            <a:ext cx="1463040" cy="1874520"/>
          </a:xfrm>
          <a:prstGeom prst="roundRect">
            <a:avLst>
              <a:gd name="adj" fmla="val 5000"/>
            </a:avLst>
          </a:prstGeom>
          <a:solidFill>
            <a:schemeClr val="bg1"/>
          </a:solidFill>
          <a:ln/>
          <a:effectLst>
            <a:outerShdw sx="100000" sy="100000" kx="0" ky="0" algn="bl" rotWithShape="0" blurRad="101600" dist="25400" dir="5400000">
              <a:srgbClr val="1B2A4A">
                <a:alpha val="12000"/>
              </a:srgbClr>
            </a:outerShdw>
          </a:effectLst>
        </p:spPr>
      </p:sp>
      <p:sp>
        <p:nvSpPr>
          <p:cNvPr id="7" name="Weeks 1–3 status"/>
          <p:cNvSpPr txBox="1"/>
          <p:nvPr/>
        </p:nvSpPr>
        <p:spPr>
          <a:xfrm>
            <a:off x="658368" y="2304288"/>
            <a:ext cx="1243584" cy="228600"/>
          </a:xfrm>
          <a:prstGeom prst="rect">
            <a:avLst/>
          </a:prstGeom>
          <a:noFill/>
          <a:ln/>
        </p:spPr>
        <p:txBody>
          <a:bodyPr wrap="square" lIns="0" tIns="0" rIns="0" bIns="0" rtlCol="0" anchor="t"/>
          <a:lstStyle/>
          <a:p>
            <a:pPr indent="0" marL="0">
              <a:buNone/>
            </a:pPr>
            <a:r>
              <a:rPr lang="en-US" sz="950" b="1" spc="100" kern="0" dirty="0">
                <a:solidFill>
                  <a:schemeClr val="accent5"/>
                </a:solidFill>
              </a:rPr>
              <a:t>COMPLETED</a:t>
            </a:r>
            <a:endParaRPr lang="en-US" sz="950" dirty="0"/>
          </a:p>
        </p:txBody>
      </p:sp>
      <p:sp>
        <p:nvSpPr>
          <p:cNvPr id="8" name="Weeks 1–3 text"/>
          <p:cNvSpPr txBox="1"/>
          <p:nvPr/>
        </p:nvSpPr>
        <p:spPr>
          <a:xfrm>
            <a:off x="658368" y="2578608"/>
            <a:ext cx="1243584" cy="1417320"/>
          </a:xfrm>
          <a:prstGeom prst="rect">
            <a:avLst/>
          </a:prstGeom>
          <a:noFill/>
          <a:ln/>
        </p:spPr>
        <p:txBody>
          <a:bodyPr wrap="square" lIns="0" tIns="0" rIns="0" bIns="0" rtlCol="0" anchor="t"/>
          <a:lstStyle/>
          <a:p>
            <a:pPr indent="0" marL="0">
              <a:buNone/>
            </a:pPr>
            <a:r>
              <a:rPr lang="en-US" sz="1300" dirty="0">
                <a:solidFill>
                  <a:schemeClr val="tx1"/>
                </a:solidFill>
              </a:rPr>
              <a:t>Requirements, literature, data audit, environment</a:t>
            </a:r>
            <a:endParaRPr lang="en-US" sz="1300" dirty="0"/>
          </a:p>
        </p:txBody>
      </p:sp>
      <p:sp>
        <p:nvSpPr>
          <p:cNvPr id="9" name="Weeks 4–6 label"/>
          <p:cNvSpPr txBox="1"/>
          <p:nvPr/>
        </p:nvSpPr>
        <p:spPr>
          <a:xfrm>
            <a:off x="2153869" y="1234440"/>
            <a:ext cx="1463040" cy="320040"/>
          </a:xfrm>
          <a:prstGeom prst="rect">
            <a:avLst/>
          </a:prstGeom>
          <a:noFill/>
          <a:ln/>
        </p:spPr>
        <p:txBody>
          <a:bodyPr wrap="square" lIns="0" tIns="0" rIns="0" bIns="0" rtlCol="0" anchor="t"/>
          <a:lstStyle/>
          <a:p>
            <a:pPr algn="ctr" indent="0" marL="0">
              <a:buNone/>
            </a:pPr>
            <a:r>
              <a:rPr lang="en-US" sz="1300" b="1" dirty="0">
                <a:solidFill>
                  <a:schemeClr val="tx2"/>
                </a:solidFill>
              </a:rPr>
              <a:t>Weeks 4–6</a:t>
            </a:r>
            <a:endParaRPr lang="en-US" sz="1300" dirty="0"/>
          </a:p>
        </p:txBody>
      </p:sp>
      <p:sp>
        <p:nvSpPr>
          <p:cNvPr id="10" name="Weeks 4–6 node"/>
          <p:cNvSpPr/>
          <p:nvPr/>
        </p:nvSpPr>
        <p:spPr>
          <a:xfrm>
            <a:off x="2729941" y="1673352"/>
            <a:ext cx="310896" cy="310896"/>
          </a:xfrm>
          <a:prstGeom prst="ellipse">
            <a:avLst/>
          </a:prstGeom>
          <a:solidFill>
            <a:schemeClr val="accent5"/>
          </a:solidFill>
          <a:ln w="25400">
            <a:solidFill>
              <a:schemeClr val="bg1"/>
            </a:solidFill>
            <a:prstDash val="solid"/>
          </a:ln>
        </p:spPr>
      </p:sp>
      <p:sp>
        <p:nvSpPr>
          <p:cNvPr id="11" name="Weeks 4–6 card"/>
          <p:cNvSpPr/>
          <p:nvPr/>
        </p:nvSpPr>
        <p:spPr>
          <a:xfrm>
            <a:off x="2153869" y="2194560"/>
            <a:ext cx="1463040" cy="1874520"/>
          </a:xfrm>
          <a:prstGeom prst="roundRect">
            <a:avLst>
              <a:gd name="adj" fmla="val 5000"/>
            </a:avLst>
          </a:prstGeom>
          <a:solidFill>
            <a:schemeClr val="bg1"/>
          </a:solidFill>
          <a:ln/>
          <a:effectLst>
            <a:outerShdw sx="100000" sy="100000" kx="0" ky="0" algn="bl" rotWithShape="0" blurRad="101600" dist="25400" dir="5400000">
              <a:srgbClr val="1B2A4A">
                <a:alpha val="12000"/>
              </a:srgbClr>
            </a:outerShdw>
          </a:effectLst>
        </p:spPr>
      </p:sp>
      <p:sp>
        <p:nvSpPr>
          <p:cNvPr id="12" name="Weeks 4–6 status"/>
          <p:cNvSpPr txBox="1"/>
          <p:nvPr/>
        </p:nvSpPr>
        <p:spPr>
          <a:xfrm>
            <a:off x="2263597" y="2304288"/>
            <a:ext cx="1243584" cy="228600"/>
          </a:xfrm>
          <a:prstGeom prst="rect">
            <a:avLst/>
          </a:prstGeom>
          <a:noFill/>
          <a:ln/>
        </p:spPr>
        <p:txBody>
          <a:bodyPr wrap="square" lIns="0" tIns="0" rIns="0" bIns="0" rtlCol="0" anchor="t"/>
          <a:lstStyle/>
          <a:p>
            <a:pPr indent="0" marL="0">
              <a:buNone/>
            </a:pPr>
            <a:r>
              <a:rPr lang="en-US" sz="950" b="1" spc="100" kern="0" dirty="0">
                <a:solidFill>
                  <a:schemeClr val="accent5"/>
                </a:solidFill>
              </a:rPr>
              <a:t>COMPLETED</a:t>
            </a:r>
            <a:endParaRPr lang="en-US" sz="950" dirty="0"/>
          </a:p>
        </p:txBody>
      </p:sp>
      <p:sp>
        <p:nvSpPr>
          <p:cNvPr id="13" name="Weeks 4–6 text"/>
          <p:cNvSpPr txBox="1"/>
          <p:nvPr/>
        </p:nvSpPr>
        <p:spPr>
          <a:xfrm>
            <a:off x="2263597" y="2578608"/>
            <a:ext cx="1243584" cy="1417320"/>
          </a:xfrm>
          <a:prstGeom prst="rect">
            <a:avLst/>
          </a:prstGeom>
          <a:noFill/>
          <a:ln/>
        </p:spPr>
        <p:txBody>
          <a:bodyPr wrap="square" lIns="0" tIns="0" rIns="0" bIns="0" rtlCol="0" anchor="t"/>
          <a:lstStyle/>
          <a:p>
            <a:pPr indent="0" marL="0">
              <a:buNone/>
            </a:pPr>
            <a:r>
              <a:rPr lang="en-US" sz="1300" dirty="0">
                <a:solidFill>
                  <a:schemeClr val="tx1"/>
                </a:solidFill>
              </a:rPr>
              <a:t>Unified main.py, multimodal model, overfitting fixes, fold-0 run, CLI</a:t>
            </a:r>
            <a:endParaRPr lang="en-US" sz="1300" dirty="0"/>
          </a:p>
        </p:txBody>
      </p:sp>
      <p:sp>
        <p:nvSpPr>
          <p:cNvPr id="14" name="Weeks 7–8 label"/>
          <p:cNvSpPr txBox="1"/>
          <p:nvPr/>
        </p:nvSpPr>
        <p:spPr>
          <a:xfrm>
            <a:off x="3759098" y="1234440"/>
            <a:ext cx="1463040" cy="320040"/>
          </a:xfrm>
          <a:prstGeom prst="rect">
            <a:avLst/>
          </a:prstGeom>
          <a:noFill/>
          <a:ln/>
        </p:spPr>
        <p:txBody>
          <a:bodyPr wrap="square" lIns="0" tIns="0" rIns="0" bIns="0" rtlCol="0" anchor="t"/>
          <a:lstStyle/>
          <a:p>
            <a:pPr algn="ctr" indent="0" marL="0">
              <a:buNone/>
            </a:pPr>
            <a:r>
              <a:rPr lang="en-US" sz="1300" b="1" dirty="0">
                <a:solidFill>
                  <a:schemeClr val="tx2"/>
                </a:solidFill>
              </a:rPr>
              <a:t>Weeks 7–8</a:t>
            </a:r>
            <a:endParaRPr lang="en-US" sz="1300" dirty="0"/>
          </a:p>
        </p:txBody>
      </p:sp>
      <p:sp>
        <p:nvSpPr>
          <p:cNvPr id="15" name="Weeks 7–8 node"/>
          <p:cNvSpPr/>
          <p:nvPr/>
        </p:nvSpPr>
        <p:spPr>
          <a:xfrm>
            <a:off x="4335170" y="1673352"/>
            <a:ext cx="310896" cy="310896"/>
          </a:xfrm>
          <a:prstGeom prst="ellipse">
            <a:avLst/>
          </a:prstGeom>
          <a:solidFill>
            <a:schemeClr val="accent1"/>
          </a:solidFill>
          <a:ln w="25400">
            <a:solidFill>
              <a:schemeClr val="bg1"/>
            </a:solidFill>
            <a:prstDash val="solid"/>
          </a:ln>
        </p:spPr>
      </p:sp>
      <p:sp>
        <p:nvSpPr>
          <p:cNvPr id="16" name="Weeks 7–8 card"/>
          <p:cNvSpPr/>
          <p:nvPr/>
        </p:nvSpPr>
        <p:spPr>
          <a:xfrm>
            <a:off x="3759098" y="2194560"/>
            <a:ext cx="1463040" cy="1874520"/>
          </a:xfrm>
          <a:prstGeom prst="roundRect">
            <a:avLst>
              <a:gd name="adj" fmla="val 5000"/>
            </a:avLst>
          </a:prstGeom>
          <a:solidFill>
            <a:schemeClr val="accent1">
              <a:alpha val="12000"/>
            </a:schemeClr>
          </a:solidFill>
          <a:ln/>
          <a:effectLst>
            <a:outerShdw sx="100000" sy="100000" kx="0" ky="0" algn="bl" rotWithShape="0" blurRad="101600" dist="25400" dir="5400000">
              <a:srgbClr val="1B2A4A">
                <a:alpha val="12000"/>
              </a:srgbClr>
            </a:outerShdw>
          </a:effectLst>
        </p:spPr>
      </p:sp>
      <p:sp>
        <p:nvSpPr>
          <p:cNvPr id="17" name="Weeks 7–8 status"/>
          <p:cNvSpPr txBox="1"/>
          <p:nvPr/>
        </p:nvSpPr>
        <p:spPr>
          <a:xfrm>
            <a:off x="3868826" y="2304288"/>
            <a:ext cx="1243584" cy="228600"/>
          </a:xfrm>
          <a:prstGeom prst="rect">
            <a:avLst/>
          </a:prstGeom>
          <a:noFill/>
          <a:ln/>
        </p:spPr>
        <p:txBody>
          <a:bodyPr wrap="square" lIns="0" tIns="0" rIns="0" bIns="0" rtlCol="0" anchor="t"/>
          <a:lstStyle/>
          <a:p>
            <a:pPr indent="0" marL="0">
              <a:buNone/>
            </a:pPr>
            <a:r>
              <a:rPr lang="en-US" sz="950" b="1" spc="100" kern="0" dirty="0">
                <a:solidFill>
                  <a:schemeClr val="accent1"/>
                </a:solidFill>
              </a:rPr>
              <a:t>IN PROGRESS</a:t>
            </a:r>
            <a:endParaRPr lang="en-US" sz="950" dirty="0"/>
          </a:p>
        </p:txBody>
      </p:sp>
      <p:sp>
        <p:nvSpPr>
          <p:cNvPr id="18" name="Weeks 7–8 text"/>
          <p:cNvSpPr txBox="1"/>
          <p:nvPr/>
        </p:nvSpPr>
        <p:spPr>
          <a:xfrm>
            <a:off x="3868826" y="2578608"/>
            <a:ext cx="1243584" cy="1417320"/>
          </a:xfrm>
          <a:prstGeom prst="rect">
            <a:avLst/>
          </a:prstGeom>
          <a:noFill/>
          <a:ln/>
        </p:spPr>
        <p:txBody>
          <a:bodyPr wrap="square" lIns="0" tIns="0" rIns="0" bIns="0" rtlCol="0" anchor="t"/>
          <a:lstStyle/>
          <a:p>
            <a:pPr indent="0" marL="0">
              <a:buNone/>
            </a:pPr>
            <a:r>
              <a:rPr lang="en-US" sz="1300" dirty="0">
                <a:solidFill>
                  <a:schemeClr val="tx1"/>
                </a:solidFill>
              </a:rPr>
              <a:t>Midterm proposal; shared model.py; explicit freezing; ablation setup</a:t>
            </a:r>
            <a:endParaRPr lang="en-US" sz="1300" dirty="0"/>
          </a:p>
        </p:txBody>
      </p:sp>
      <p:sp>
        <p:nvSpPr>
          <p:cNvPr id="19" name="Weeks 9–10 label"/>
          <p:cNvSpPr txBox="1"/>
          <p:nvPr/>
        </p:nvSpPr>
        <p:spPr>
          <a:xfrm>
            <a:off x="5364328" y="1234440"/>
            <a:ext cx="1463040" cy="320040"/>
          </a:xfrm>
          <a:prstGeom prst="rect">
            <a:avLst/>
          </a:prstGeom>
          <a:noFill/>
          <a:ln/>
        </p:spPr>
        <p:txBody>
          <a:bodyPr wrap="square" lIns="0" tIns="0" rIns="0" bIns="0" rtlCol="0" anchor="t"/>
          <a:lstStyle/>
          <a:p>
            <a:pPr algn="ctr" indent="0" marL="0">
              <a:buNone/>
            </a:pPr>
            <a:r>
              <a:rPr lang="en-US" sz="1300" b="1" dirty="0">
                <a:solidFill>
                  <a:schemeClr val="tx2"/>
                </a:solidFill>
              </a:rPr>
              <a:t>Weeks 9–10</a:t>
            </a:r>
            <a:endParaRPr lang="en-US" sz="1300" dirty="0"/>
          </a:p>
        </p:txBody>
      </p:sp>
      <p:sp>
        <p:nvSpPr>
          <p:cNvPr id="20" name="Weeks 9–10 node"/>
          <p:cNvSpPr/>
          <p:nvPr/>
        </p:nvSpPr>
        <p:spPr>
          <a:xfrm>
            <a:off x="5940400" y="1673352"/>
            <a:ext cx="310896" cy="310896"/>
          </a:xfrm>
          <a:prstGeom prst="ellipse">
            <a:avLst/>
          </a:prstGeom>
          <a:solidFill>
            <a:schemeClr val="accent3"/>
          </a:solidFill>
          <a:ln w="25400">
            <a:solidFill>
              <a:schemeClr val="bg1"/>
            </a:solidFill>
            <a:prstDash val="solid"/>
          </a:ln>
        </p:spPr>
      </p:sp>
      <p:sp>
        <p:nvSpPr>
          <p:cNvPr id="21" name="Weeks 9–10 card"/>
          <p:cNvSpPr/>
          <p:nvPr/>
        </p:nvSpPr>
        <p:spPr>
          <a:xfrm>
            <a:off x="5364328" y="2194560"/>
            <a:ext cx="1463040" cy="1874520"/>
          </a:xfrm>
          <a:prstGeom prst="roundRect">
            <a:avLst>
              <a:gd name="adj" fmla="val 5000"/>
            </a:avLst>
          </a:prstGeom>
          <a:solidFill>
            <a:schemeClr val="bg1"/>
          </a:solidFill>
          <a:ln/>
          <a:effectLst>
            <a:outerShdw sx="100000" sy="100000" kx="0" ky="0" algn="bl" rotWithShape="0" blurRad="101600" dist="25400" dir="5400000">
              <a:srgbClr val="1B2A4A">
                <a:alpha val="12000"/>
              </a:srgbClr>
            </a:outerShdw>
          </a:effectLst>
        </p:spPr>
      </p:sp>
      <p:sp>
        <p:nvSpPr>
          <p:cNvPr id="22" name="Weeks 9–10 status"/>
          <p:cNvSpPr txBox="1"/>
          <p:nvPr/>
        </p:nvSpPr>
        <p:spPr>
          <a:xfrm>
            <a:off x="5474056" y="2304288"/>
            <a:ext cx="1243584" cy="228600"/>
          </a:xfrm>
          <a:prstGeom prst="rect">
            <a:avLst/>
          </a:prstGeom>
          <a:noFill/>
          <a:ln/>
        </p:spPr>
        <p:txBody>
          <a:bodyPr wrap="square" lIns="0" tIns="0" rIns="0" bIns="0" rtlCol="0" anchor="t"/>
          <a:lstStyle/>
          <a:p>
            <a:pPr indent="0" marL="0">
              <a:buNone/>
            </a:pPr>
            <a:r>
              <a:rPr lang="en-US" sz="950" b="1" spc="100" kern="0" dirty="0">
                <a:solidFill>
                  <a:schemeClr val="accent3"/>
                </a:solidFill>
              </a:rPr>
              <a:t>PLANNED</a:t>
            </a:r>
            <a:endParaRPr lang="en-US" sz="950" dirty="0"/>
          </a:p>
        </p:txBody>
      </p:sp>
      <p:sp>
        <p:nvSpPr>
          <p:cNvPr id="23" name="Weeks 9–10 text"/>
          <p:cNvSpPr txBox="1"/>
          <p:nvPr/>
        </p:nvSpPr>
        <p:spPr>
          <a:xfrm>
            <a:off x="5474056" y="2578608"/>
            <a:ext cx="1243584" cy="1417320"/>
          </a:xfrm>
          <a:prstGeom prst="rect">
            <a:avLst/>
          </a:prstGeom>
          <a:noFill/>
          <a:ln/>
        </p:spPr>
        <p:txBody>
          <a:bodyPr wrap="square" lIns="0" tIns="0" rIns="0" bIns="0" rtlCol="0" anchor="t"/>
          <a:lstStyle/>
          <a:p>
            <a:pPr indent="0" marL="0">
              <a:buNone/>
            </a:pPr>
            <a:r>
              <a:rPr lang="en-US" sz="1300" dirty="0">
                <a:solidFill>
                  <a:schemeClr val="tx1"/>
                </a:solidFill>
              </a:rPr>
              <a:t>5-fold nested CV; ablation A0–A3; re-run checks; MVP tests</a:t>
            </a:r>
            <a:endParaRPr lang="en-US" sz="1300" dirty="0"/>
          </a:p>
        </p:txBody>
      </p:sp>
      <p:sp>
        <p:nvSpPr>
          <p:cNvPr id="24" name="Weeks 11–12 label"/>
          <p:cNvSpPr txBox="1"/>
          <p:nvPr/>
        </p:nvSpPr>
        <p:spPr>
          <a:xfrm>
            <a:off x="6969557" y="1234440"/>
            <a:ext cx="1463040" cy="320040"/>
          </a:xfrm>
          <a:prstGeom prst="rect">
            <a:avLst/>
          </a:prstGeom>
          <a:noFill/>
          <a:ln/>
        </p:spPr>
        <p:txBody>
          <a:bodyPr wrap="square" lIns="0" tIns="0" rIns="0" bIns="0" rtlCol="0" anchor="t"/>
          <a:lstStyle/>
          <a:p>
            <a:pPr algn="ctr" indent="0" marL="0">
              <a:buNone/>
            </a:pPr>
            <a:r>
              <a:rPr lang="en-US" sz="1300" b="1" dirty="0">
                <a:solidFill>
                  <a:schemeClr val="tx2"/>
                </a:solidFill>
              </a:rPr>
              <a:t>Weeks 11–12</a:t>
            </a:r>
            <a:endParaRPr lang="en-US" sz="1300" dirty="0"/>
          </a:p>
        </p:txBody>
      </p:sp>
      <p:sp>
        <p:nvSpPr>
          <p:cNvPr id="25" name="Weeks 11–12 node"/>
          <p:cNvSpPr/>
          <p:nvPr/>
        </p:nvSpPr>
        <p:spPr>
          <a:xfrm>
            <a:off x="7545629" y="1673352"/>
            <a:ext cx="310896" cy="310896"/>
          </a:xfrm>
          <a:prstGeom prst="ellipse">
            <a:avLst/>
          </a:prstGeom>
          <a:solidFill>
            <a:schemeClr val="accent3"/>
          </a:solidFill>
          <a:ln w="25400">
            <a:solidFill>
              <a:schemeClr val="bg1"/>
            </a:solidFill>
            <a:prstDash val="solid"/>
          </a:ln>
        </p:spPr>
      </p:sp>
      <p:sp>
        <p:nvSpPr>
          <p:cNvPr id="26" name="Weeks 11–12 card"/>
          <p:cNvSpPr/>
          <p:nvPr/>
        </p:nvSpPr>
        <p:spPr>
          <a:xfrm>
            <a:off x="6969557" y="2194560"/>
            <a:ext cx="1463040" cy="1874520"/>
          </a:xfrm>
          <a:prstGeom prst="roundRect">
            <a:avLst>
              <a:gd name="adj" fmla="val 5000"/>
            </a:avLst>
          </a:prstGeom>
          <a:solidFill>
            <a:schemeClr val="bg1"/>
          </a:solidFill>
          <a:ln/>
          <a:effectLst>
            <a:outerShdw sx="100000" sy="100000" kx="0" ky="0" algn="bl" rotWithShape="0" blurRad="101600" dist="25400" dir="5400000">
              <a:srgbClr val="1B2A4A">
                <a:alpha val="12000"/>
              </a:srgbClr>
            </a:outerShdw>
          </a:effectLst>
        </p:spPr>
      </p:sp>
      <p:sp>
        <p:nvSpPr>
          <p:cNvPr id="27" name="Weeks 11–12 status"/>
          <p:cNvSpPr txBox="1"/>
          <p:nvPr/>
        </p:nvSpPr>
        <p:spPr>
          <a:xfrm>
            <a:off x="7079285" y="2304288"/>
            <a:ext cx="1243584" cy="228600"/>
          </a:xfrm>
          <a:prstGeom prst="rect">
            <a:avLst/>
          </a:prstGeom>
          <a:noFill/>
          <a:ln/>
        </p:spPr>
        <p:txBody>
          <a:bodyPr wrap="square" lIns="0" tIns="0" rIns="0" bIns="0" rtlCol="0" anchor="t"/>
          <a:lstStyle/>
          <a:p>
            <a:pPr indent="0" marL="0">
              <a:buNone/>
            </a:pPr>
            <a:r>
              <a:rPr lang="en-US" sz="950" b="1" spc="100" kern="0" dirty="0">
                <a:solidFill>
                  <a:schemeClr val="accent3"/>
                </a:solidFill>
              </a:rPr>
              <a:t>PLANNED</a:t>
            </a:r>
            <a:endParaRPr lang="en-US" sz="950" dirty="0"/>
          </a:p>
        </p:txBody>
      </p:sp>
      <p:sp>
        <p:nvSpPr>
          <p:cNvPr id="28" name="Weeks 11–12 text"/>
          <p:cNvSpPr txBox="1"/>
          <p:nvPr/>
        </p:nvSpPr>
        <p:spPr>
          <a:xfrm>
            <a:off x="7079285" y="2578608"/>
            <a:ext cx="1243584" cy="1417320"/>
          </a:xfrm>
          <a:prstGeom prst="rect">
            <a:avLst/>
          </a:prstGeom>
          <a:noFill/>
          <a:ln/>
        </p:spPr>
        <p:txBody>
          <a:bodyPr wrap="square" lIns="0" tIns="0" rIns="0" bIns="0" rtlCol="0" anchor="t"/>
          <a:lstStyle/>
          <a:p>
            <a:pPr indent="0" marL="0">
              <a:buNone/>
            </a:pPr>
            <a:r>
              <a:rPr lang="en-US" sz="1300" dirty="0">
                <a:solidFill>
                  <a:schemeClr val="tx1"/>
                </a:solidFill>
              </a:rPr>
              <a:t>Calibration; deletion test, rollout, Grad-CAM; Gradio web demo</a:t>
            </a:r>
            <a:endParaRPr lang="en-US" sz="1300" dirty="0"/>
          </a:p>
        </p:txBody>
      </p:sp>
      <p:sp>
        <p:nvSpPr>
          <p:cNvPr id="29" name="Week 13 label"/>
          <p:cNvSpPr txBox="1"/>
          <p:nvPr/>
        </p:nvSpPr>
        <p:spPr>
          <a:xfrm>
            <a:off x="8574786" y="1234440"/>
            <a:ext cx="1463040" cy="320040"/>
          </a:xfrm>
          <a:prstGeom prst="rect">
            <a:avLst/>
          </a:prstGeom>
          <a:noFill/>
          <a:ln/>
        </p:spPr>
        <p:txBody>
          <a:bodyPr wrap="square" lIns="0" tIns="0" rIns="0" bIns="0" rtlCol="0" anchor="t"/>
          <a:lstStyle/>
          <a:p>
            <a:pPr algn="ctr" indent="0" marL="0">
              <a:buNone/>
            </a:pPr>
            <a:r>
              <a:rPr lang="en-US" sz="1300" b="1" dirty="0">
                <a:solidFill>
                  <a:schemeClr val="tx2"/>
                </a:solidFill>
              </a:rPr>
              <a:t>Week 13</a:t>
            </a:r>
            <a:endParaRPr lang="en-US" sz="1300" dirty="0"/>
          </a:p>
        </p:txBody>
      </p:sp>
      <p:sp>
        <p:nvSpPr>
          <p:cNvPr id="30" name="Week 13 node"/>
          <p:cNvSpPr/>
          <p:nvPr/>
        </p:nvSpPr>
        <p:spPr>
          <a:xfrm>
            <a:off x="9150858" y="1673352"/>
            <a:ext cx="310896" cy="310896"/>
          </a:xfrm>
          <a:prstGeom prst="ellipse">
            <a:avLst/>
          </a:prstGeom>
          <a:solidFill>
            <a:schemeClr val="accent3"/>
          </a:solidFill>
          <a:ln w="25400">
            <a:solidFill>
              <a:schemeClr val="bg1"/>
            </a:solidFill>
            <a:prstDash val="solid"/>
          </a:ln>
        </p:spPr>
      </p:sp>
      <p:sp>
        <p:nvSpPr>
          <p:cNvPr id="31" name="Week 13 card"/>
          <p:cNvSpPr/>
          <p:nvPr/>
        </p:nvSpPr>
        <p:spPr>
          <a:xfrm>
            <a:off x="8574786" y="2194560"/>
            <a:ext cx="1463040" cy="1874520"/>
          </a:xfrm>
          <a:prstGeom prst="roundRect">
            <a:avLst>
              <a:gd name="adj" fmla="val 5000"/>
            </a:avLst>
          </a:prstGeom>
          <a:solidFill>
            <a:schemeClr val="bg1"/>
          </a:solidFill>
          <a:ln/>
          <a:effectLst>
            <a:outerShdw sx="100000" sy="100000" kx="0" ky="0" algn="bl" rotWithShape="0" blurRad="101600" dist="25400" dir="5400000">
              <a:srgbClr val="1B2A4A">
                <a:alpha val="12000"/>
              </a:srgbClr>
            </a:outerShdw>
          </a:effectLst>
        </p:spPr>
      </p:sp>
      <p:sp>
        <p:nvSpPr>
          <p:cNvPr id="32" name="Week 13 status"/>
          <p:cNvSpPr txBox="1"/>
          <p:nvPr/>
        </p:nvSpPr>
        <p:spPr>
          <a:xfrm>
            <a:off x="8684514" y="2304288"/>
            <a:ext cx="1243584" cy="228600"/>
          </a:xfrm>
          <a:prstGeom prst="rect">
            <a:avLst/>
          </a:prstGeom>
          <a:noFill/>
          <a:ln/>
        </p:spPr>
        <p:txBody>
          <a:bodyPr wrap="square" lIns="0" tIns="0" rIns="0" bIns="0" rtlCol="0" anchor="t"/>
          <a:lstStyle/>
          <a:p>
            <a:pPr indent="0" marL="0">
              <a:buNone/>
            </a:pPr>
            <a:r>
              <a:rPr lang="en-US" sz="950" b="1" spc="100" kern="0" dirty="0">
                <a:solidFill>
                  <a:schemeClr val="accent3"/>
                </a:solidFill>
              </a:rPr>
              <a:t>PLANNED</a:t>
            </a:r>
            <a:endParaRPr lang="en-US" sz="950" dirty="0"/>
          </a:p>
        </p:txBody>
      </p:sp>
      <p:sp>
        <p:nvSpPr>
          <p:cNvPr id="33" name="Week 13 text"/>
          <p:cNvSpPr txBox="1"/>
          <p:nvPr/>
        </p:nvSpPr>
        <p:spPr>
          <a:xfrm>
            <a:off x="8684514" y="2578608"/>
            <a:ext cx="1243584" cy="1417320"/>
          </a:xfrm>
          <a:prstGeom prst="rect">
            <a:avLst/>
          </a:prstGeom>
          <a:noFill/>
          <a:ln/>
        </p:spPr>
        <p:txBody>
          <a:bodyPr wrap="square" lIns="0" tIns="0" rIns="0" bIns="0" rtlCol="0" anchor="t"/>
          <a:lstStyle/>
          <a:p>
            <a:pPr indent="0" marL="0">
              <a:buNone/>
            </a:pPr>
            <a:r>
              <a:rPr lang="en-US" sz="1300" dirty="0">
                <a:solidFill>
                  <a:schemeClr val="tx1"/>
                </a:solidFill>
              </a:rPr>
              <a:t>Answer RQ1–RQ3 vs. SMART targets; FP/FN error analysis</a:t>
            </a:r>
            <a:endParaRPr lang="en-US" sz="1300" dirty="0"/>
          </a:p>
        </p:txBody>
      </p:sp>
      <p:sp>
        <p:nvSpPr>
          <p:cNvPr id="34" name="Week 14 label"/>
          <p:cNvSpPr txBox="1"/>
          <p:nvPr/>
        </p:nvSpPr>
        <p:spPr>
          <a:xfrm>
            <a:off x="10180015" y="1234440"/>
            <a:ext cx="1463040" cy="320040"/>
          </a:xfrm>
          <a:prstGeom prst="rect">
            <a:avLst/>
          </a:prstGeom>
          <a:noFill/>
          <a:ln/>
        </p:spPr>
        <p:txBody>
          <a:bodyPr wrap="square" lIns="0" tIns="0" rIns="0" bIns="0" rtlCol="0" anchor="t"/>
          <a:lstStyle/>
          <a:p>
            <a:pPr algn="ctr" indent="0" marL="0">
              <a:buNone/>
            </a:pPr>
            <a:r>
              <a:rPr lang="en-US" sz="1300" b="1" dirty="0">
                <a:solidFill>
                  <a:schemeClr val="tx2"/>
                </a:solidFill>
              </a:rPr>
              <a:t>Week 14</a:t>
            </a:r>
            <a:endParaRPr lang="en-US" sz="1300" dirty="0"/>
          </a:p>
        </p:txBody>
      </p:sp>
      <p:sp>
        <p:nvSpPr>
          <p:cNvPr id="35" name="Week 14 node"/>
          <p:cNvSpPr/>
          <p:nvPr/>
        </p:nvSpPr>
        <p:spPr>
          <a:xfrm>
            <a:off x="10756087" y="1673352"/>
            <a:ext cx="310896" cy="310896"/>
          </a:xfrm>
          <a:prstGeom prst="ellipse">
            <a:avLst/>
          </a:prstGeom>
          <a:solidFill>
            <a:schemeClr val="accent3"/>
          </a:solidFill>
          <a:ln w="25400">
            <a:solidFill>
              <a:schemeClr val="bg1"/>
            </a:solidFill>
            <a:prstDash val="solid"/>
          </a:ln>
        </p:spPr>
      </p:sp>
      <p:sp>
        <p:nvSpPr>
          <p:cNvPr id="36" name="Week 14 card"/>
          <p:cNvSpPr/>
          <p:nvPr/>
        </p:nvSpPr>
        <p:spPr>
          <a:xfrm>
            <a:off x="10180015" y="2194560"/>
            <a:ext cx="1463040" cy="1874520"/>
          </a:xfrm>
          <a:prstGeom prst="roundRect">
            <a:avLst>
              <a:gd name="adj" fmla="val 5000"/>
            </a:avLst>
          </a:prstGeom>
          <a:solidFill>
            <a:schemeClr val="bg1"/>
          </a:solidFill>
          <a:ln/>
          <a:effectLst>
            <a:outerShdw sx="100000" sy="100000" kx="0" ky="0" algn="bl" rotWithShape="0" blurRad="101600" dist="25400" dir="5400000">
              <a:srgbClr val="1B2A4A">
                <a:alpha val="12000"/>
              </a:srgbClr>
            </a:outerShdw>
          </a:effectLst>
        </p:spPr>
      </p:sp>
      <p:sp>
        <p:nvSpPr>
          <p:cNvPr id="37" name="Week 14 status"/>
          <p:cNvSpPr txBox="1"/>
          <p:nvPr/>
        </p:nvSpPr>
        <p:spPr>
          <a:xfrm>
            <a:off x="10289743" y="2304288"/>
            <a:ext cx="1243584" cy="228600"/>
          </a:xfrm>
          <a:prstGeom prst="rect">
            <a:avLst/>
          </a:prstGeom>
          <a:noFill/>
          <a:ln/>
        </p:spPr>
        <p:txBody>
          <a:bodyPr wrap="square" lIns="0" tIns="0" rIns="0" bIns="0" rtlCol="0" anchor="t"/>
          <a:lstStyle/>
          <a:p>
            <a:pPr indent="0" marL="0">
              <a:buNone/>
            </a:pPr>
            <a:r>
              <a:rPr lang="en-US" sz="950" b="1" spc="100" kern="0" dirty="0">
                <a:solidFill>
                  <a:schemeClr val="accent3"/>
                </a:solidFill>
              </a:rPr>
              <a:t>PLANNED</a:t>
            </a:r>
            <a:endParaRPr lang="en-US" sz="950" dirty="0"/>
          </a:p>
        </p:txBody>
      </p:sp>
      <p:sp>
        <p:nvSpPr>
          <p:cNvPr id="38" name="Week 14 text"/>
          <p:cNvSpPr txBox="1"/>
          <p:nvPr/>
        </p:nvSpPr>
        <p:spPr>
          <a:xfrm>
            <a:off x="10289743" y="2578608"/>
            <a:ext cx="1243584" cy="1417320"/>
          </a:xfrm>
          <a:prstGeom prst="rect">
            <a:avLst/>
          </a:prstGeom>
          <a:noFill/>
          <a:ln/>
        </p:spPr>
        <p:txBody>
          <a:bodyPr wrap="square" lIns="0" tIns="0" rIns="0" bIns="0" rtlCol="0" anchor="t"/>
          <a:lstStyle/>
          <a:p>
            <a:pPr indent="0" marL="0">
              <a:buNone/>
            </a:pPr>
            <a:r>
              <a:rPr lang="en-US" sz="1300" dirty="0">
                <a:solidFill>
                  <a:schemeClr val="tx1"/>
                </a:solidFill>
              </a:rPr>
              <a:t>Final report, README, final presentation and live demo</a:t>
            </a:r>
            <a:endParaRPr lang="en-US" sz="1300" dirty="0"/>
          </a:p>
        </p:txBody>
      </p:sp>
      <p:sp>
        <p:nvSpPr>
          <p:cNvPr id="39" name="MVP header"/>
          <p:cNvSpPr txBox="1"/>
          <p:nvPr/>
        </p:nvSpPr>
        <p:spPr>
          <a:xfrm>
            <a:off x="548640" y="4434840"/>
            <a:ext cx="3657600" cy="274320"/>
          </a:xfrm>
          <a:prstGeom prst="rect">
            <a:avLst/>
          </a:prstGeom>
          <a:noFill/>
          <a:ln/>
        </p:spPr>
        <p:txBody>
          <a:bodyPr wrap="square" lIns="0" tIns="0" rIns="0" bIns="0" rtlCol="0" anchor="t"/>
          <a:lstStyle/>
          <a:p>
            <a:pPr indent="0" marL="0">
              <a:buNone/>
            </a:pPr>
            <a:r>
              <a:rPr lang="en-US" sz="1200" b="1" spc="150" kern="0" dirty="0">
                <a:solidFill>
                  <a:schemeClr val="accent3"/>
                </a:solidFill>
              </a:rPr>
              <a:t>MVP BY WEEK 14</a:t>
            </a:r>
            <a:endParaRPr lang="en-US" sz="1200" dirty="0"/>
          </a:p>
        </p:txBody>
      </p:sp>
      <p:sp>
        <p:nvSpPr>
          <p:cNvPr id="40" name="MVP 0"/>
          <p:cNvSpPr/>
          <p:nvPr/>
        </p:nvSpPr>
        <p:spPr>
          <a:xfrm>
            <a:off x="548640" y="4800600"/>
            <a:ext cx="1734769" cy="1188720"/>
          </a:xfrm>
          <a:prstGeom prst="roundRect">
            <a:avLst>
              <a:gd name="adj" fmla="val 6154"/>
            </a:avLst>
          </a:prstGeom>
          <a:solidFill>
            <a:schemeClr val="accent5"/>
          </a:solidFill>
          <a:ln/>
        </p:spPr>
      </p:sp>
      <p:pic>
        <p:nvPicPr>
          <p:cNvPr id="41" name="MVP 0 icon" descr="preencoded.png">    </p:cNvPr>
          <p:cNvPicPr>
            <a:picLocks noChangeAspect="1"/>
          </p:cNvPicPr>
          <p:nvPr/>
        </p:nvPicPr>
        <p:blipFill>
          <a:blip r:embed="rId1"/>
          <a:stretch>
            <a:fillRect/>
          </a:stretch>
        </p:blipFill>
        <p:spPr>
          <a:xfrm>
            <a:off x="685800" y="5248656"/>
            <a:ext cx="292608" cy="292608"/>
          </a:xfrm>
          <a:prstGeom prst="rect">
            <a:avLst/>
          </a:prstGeom>
        </p:spPr>
      </p:pic>
      <p:sp>
        <p:nvSpPr>
          <p:cNvPr id="42" name="MVP 0 text"/>
          <p:cNvSpPr txBox="1"/>
          <p:nvPr/>
        </p:nvSpPr>
        <p:spPr>
          <a:xfrm>
            <a:off x="1051560" y="4800600"/>
            <a:ext cx="1140409" cy="1188720"/>
          </a:xfrm>
          <a:prstGeom prst="rect">
            <a:avLst/>
          </a:prstGeom>
          <a:noFill/>
          <a:ln/>
        </p:spPr>
        <p:txBody>
          <a:bodyPr wrap="square" lIns="0" tIns="0" rIns="0" bIns="0" rtlCol="0" anchor="ctr"/>
          <a:lstStyle/>
          <a:p>
            <a:pPr indent="0" marL="0">
              <a:buNone/>
            </a:pPr>
            <a:r>
              <a:rPr lang="en-US" sz="1350" b="1" dirty="0">
                <a:solidFill>
                  <a:schemeClr val="bg1"/>
                </a:solidFill>
              </a:rPr>
              <a:t>Data audit + 5-fold metadata</a:t>
            </a:r>
            <a:endParaRPr lang="en-US" sz="1350" dirty="0"/>
          </a:p>
        </p:txBody>
      </p:sp>
      <p:sp>
        <p:nvSpPr>
          <p:cNvPr id="43" name="MVP 1"/>
          <p:cNvSpPr/>
          <p:nvPr/>
        </p:nvSpPr>
        <p:spPr>
          <a:xfrm>
            <a:off x="2420569" y="4800600"/>
            <a:ext cx="1734769" cy="1188720"/>
          </a:xfrm>
          <a:prstGeom prst="roundRect">
            <a:avLst>
              <a:gd name="adj" fmla="val 6154"/>
            </a:avLst>
          </a:prstGeom>
          <a:solidFill>
            <a:schemeClr val="accent5"/>
          </a:solidFill>
          <a:ln/>
        </p:spPr>
      </p:sp>
      <p:pic>
        <p:nvPicPr>
          <p:cNvPr id="44" name="MVP 1 icon" descr="preencoded.png">    </p:cNvPr>
          <p:cNvPicPr>
            <a:picLocks noChangeAspect="1"/>
          </p:cNvPicPr>
          <p:nvPr/>
        </p:nvPicPr>
        <p:blipFill>
          <a:blip r:embed="rId2"/>
          <a:stretch>
            <a:fillRect/>
          </a:stretch>
        </p:blipFill>
        <p:spPr>
          <a:xfrm>
            <a:off x="2557729" y="5248656"/>
            <a:ext cx="292608" cy="292608"/>
          </a:xfrm>
          <a:prstGeom prst="rect">
            <a:avLst/>
          </a:prstGeom>
        </p:spPr>
      </p:pic>
      <p:sp>
        <p:nvSpPr>
          <p:cNvPr id="45" name="MVP 1 text"/>
          <p:cNvSpPr txBox="1"/>
          <p:nvPr/>
        </p:nvSpPr>
        <p:spPr>
          <a:xfrm>
            <a:off x="2923489" y="4800600"/>
            <a:ext cx="1140409" cy="1188720"/>
          </a:xfrm>
          <a:prstGeom prst="rect">
            <a:avLst/>
          </a:prstGeom>
          <a:noFill/>
          <a:ln/>
        </p:spPr>
        <p:txBody>
          <a:bodyPr wrap="square" lIns="0" tIns="0" rIns="0" bIns="0" rtlCol="0" anchor="ctr"/>
          <a:lstStyle/>
          <a:p>
            <a:pPr indent="0" marL="0">
              <a:buNone/>
            </a:pPr>
            <a:r>
              <a:rPr lang="en-US" sz="1350" b="1" dirty="0">
                <a:solidFill>
                  <a:schemeClr val="bg1"/>
                </a:solidFill>
              </a:rPr>
              <a:t>Multimodal model</a:t>
            </a:r>
            <a:endParaRPr lang="en-US" sz="1350" dirty="0"/>
          </a:p>
        </p:txBody>
      </p:sp>
      <p:sp>
        <p:nvSpPr>
          <p:cNvPr id="46" name="MVP 2"/>
          <p:cNvSpPr/>
          <p:nvPr/>
        </p:nvSpPr>
        <p:spPr>
          <a:xfrm>
            <a:off x="4292498" y="4800600"/>
            <a:ext cx="1734769" cy="1188720"/>
          </a:xfrm>
          <a:prstGeom prst="roundRect">
            <a:avLst>
              <a:gd name="adj" fmla="val 6154"/>
            </a:avLst>
          </a:prstGeom>
          <a:solidFill>
            <a:schemeClr val="accent5"/>
          </a:solidFill>
          <a:ln/>
        </p:spPr>
      </p:sp>
      <p:pic>
        <p:nvPicPr>
          <p:cNvPr id="47" name="MVP 2 icon" descr="preencoded.png">    </p:cNvPr>
          <p:cNvPicPr>
            <a:picLocks noChangeAspect="1"/>
          </p:cNvPicPr>
          <p:nvPr/>
        </p:nvPicPr>
        <p:blipFill>
          <a:blip r:embed="rId3"/>
          <a:stretch>
            <a:fillRect/>
          </a:stretch>
        </p:blipFill>
        <p:spPr>
          <a:xfrm>
            <a:off x="4429658" y="5248656"/>
            <a:ext cx="292608" cy="292608"/>
          </a:xfrm>
          <a:prstGeom prst="rect">
            <a:avLst/>
          </a:prstGeom>
        </p:spPr>
      </p:pic>
      <p:sp>
        <p:nvSpPr>
          <p:cNvPr id="48" name="MVP 2 text"/>
          <p:cNvSpPr txBox="1"/>
          <p:nvPr/>
        </p:nvSpPr>
        <p:spPr>
          <a:xfrm>
            <a:off x="4795418" y="4800600"/>
            <a:ext cx="1140409" cy="1188720"/>
          </a:xfrm>
          <a:prstGeom prst="rect">
            <a:avLst/>
          </a:prstGeom>
          <a:noFill/>
          <a:ln/>
        </p:spPr>
        <p:txBody>
          <a:bodyPr wrap="square" lIns="0" tIns="0" rIns="0" bIns="0" rtlCol="0" anchor="ctr"/>
          <a:lstStyle/>
          <a:p>
            <a:pPr indent="0" marL="0">
              <a:buNone/>
            </a:pPr>
            <a:r>
              <a:rPr lang="en-US" sz="1350" b="1" dirty="0">
                <a:solidFill>
                  <a:schemeClr val="bg1"/>
                </a:solidFill>
              </a:rPr>
              <a:t>Inference CLI</a:t>
            </a:r>
            <a:endParaRPr lang="en-US" sz="1350" dirty="0"/>
          </a:p>
        </p:txBody>
      </p:sp>
      <p:sp>
        <p:nvSpPr>
          <p:cNvPr id="49" name="MVP 3"/>
          <p:cNvSpPr/>
          <p:nvPr/>
        </p:nvSpPr>
        <p:spPr>
          <a:xfrm>
            <a:off x="6164428" y="4800600"/>
            <a:ext cx="1734769" cy="1188720"/>
          </a:xfrm>
          <a:prstGeom prst="roundRect">
            <a:avLst>
              <a:gd name="adj" fmla="val 6154"/>
            </a:avLst>
          </a:prstGeom>
          <a:solidFill>
            <a:schemeClr val="bg2"/>
          </a:solidFill>
          <a:ln w="12700">
            <a:solidFill>
              <a:srgbClr val="56657F"/>
            </a:solidFill>
            <a:prstDash val="dash"/>
          </a:ln>
        </p:spPr>
      </p:sp>
      <p:pic>
        <p:nvPicPr>
          <p:cNvPr id="50" name="MVP 3 icon" descr="preencoded.png">    </p:cNvPr>
          <p:cNvPicPr>
            <a:picLocks noChangeAspect="1"/>
          </p:cNvPicPr>
          <p:nvPr/>
        </p:nvPicPr>
        <p:blipFill>
          <a:blip r:embed="rId4"/>
          <a:stretch>
            <a:fillRect/>
          </a:stretch>
        </p:blipFill>
        <p:spPr>
          <a:xfrm>
            <a:off x="6301588" y="5248656"/>
            <a:ext cx="292608" cy="292608"/>
          </a:xfrm>
          <a:prstGeom prst="rect">
            <a:avLst/>
          </a:prstGeom>
        </p:spPr>
      </p:pic>
      <p:sp>
        <p:nvSpPr>
          <p:cNvPr id="51" name="MVP 3 text"/>
          <p:cNvSpPr txBox="1"/>
          <p:nvPr/>
        </p:nvSpPr>
        <p:spPr>
          <a:xfrm>
            <a:off x="6667348" y="4800600"/>
            <a:ext cx="1140409" cy="1188720"/>
          </a:xfrm>
          <a:prstGeom prst="rect">
            <a:avLst/>
          </a:prstGeom>
          <a:noFill/>
          <a:ln/>
        </p:spPr>
        <p:txBody>
          <a:bodyPr wrap="square" lIns="0" tIns="0" rIns="0" bIns="0" rtlCol="0" anchor="ctr"/>
          <a:lstStyle/>
          <a:p>
            <a:pPr indent="0" marL="0">
              <a:buNone/>
            </a:pPr>
            <a:r>
              <a:rPr lang="en-US" sz="1350" b="1" dirty="0">
                <a:solidFill>
                  <a:schemeClr val="tx2"/>
                </a:solidFill>
              </a:rPr>
              <a:t>5-fold CV + ablation</a:t>
            </a:r>
            <a:endParaRPr lang="en-US" sz="1350" dirty="0"/>
          </a:p>
        </p:txBody>
      </p:sp>
      <p:sp>
        <p:nvSpPr>
          <p:cNvPr id="52" name="MVP 4"/>
          <p:cNvSpPr/>
          <p:nvPr/>
        </p:nvSpPr>
        <p:spPr>
          <a:xfrm>
            <a:off x="8036357" y="4800600"/>
            <a:ext cx="1734769" cy="1188720"/>
          </a:xfrm>
          <a:prstGeom prst="roundRect">
            <a:avLst>
              <a:gd name="adj" fmla="val 6154"/>
            </a:avLst>
          </a:prstGeom>
          <a:solidFill>
            <a:schemeClr val="bg2"/>
          </a:solidFill>
          <a:ln w="12700">
            <a:solidFill>
              <a:srgbClr val="56657F"/>
            </a:solidFill>
            <a:prstDash val="dash"/>
          </a:ln>
        </p:spPr>
      </p:sp>
      <p:pic>
        <p:nvPicPr>
          <p:cNvPr id="53" name="MVP 4 icon" descr="preencoded.png">    </p:cNvPr>
          <p:cNvPicPr>
            <a:picLocks noChangeAspect="1"/>
          </p:cNvPicPr>
          <p:nvPr/>
        </p:nvPicPr>
        <p:blipFill>
          <a:blip r:embed="rId5"/>
          <a:stretch>
            <a:fillRect/>
          </a:stretch>
        </p:blipFill>
        <p:spPr>
          <a:xfrm>
            <a:off x="8173517" y="5248656"/>
            <a:ext cx="292608" cy="292608"/>
          </a:xfrm>
          <a:prstGeom prst="rect">
            <a:avLst/>
          </a:prstGeom>
        </p:spPr>
      </p:pic>
      <p:sp>
        <p:nvSpPr>
          <p:cNvPr id="54" name="MVP 4 text"/>
          <p:cNvSpPr txBox="1"/>
          <p:nvPr/>
        </p:nvSpPr>
        <p:spPr>
          <a:xfrm>
            <a:off x="8539277" y="4800600"/>
            <a:ext cx="1140409" cy="1188720"/>
          </a:xfrm>
          <a:prstGeom prst="rect">
            <a:avLst/>
          </a:prstGeom>
          <a:noFill/>
          <a:ln/>
        </p:spPr>
        <p:txBody>
          <a:bodyPr wrap="square" lIns="0" tIns="0" rIns="0" bIns="0" rtlCol="0" anchor="ctr"/>
          <a:lstStyle/>
          <a:p>
            <a:pPr indent="0" marL="0">
              <a:buNone/>
            </a:pPr>
            <a:r>
              <a:rPr lang="en-US" sz="1350" b="1" dirty="0">
                <a:solidFill>
                  <a:schemeClr val="tx2"/>
                </a:solidFill>
              </a:rPr>
              <a:t>Calibrated eval + validated XAI</a:t>
            </a:r>
            <a:endParaRPr lang="en-US" sz="1350" dirty="0"/>
          </a:p>
        </p:txBody>
      </p:sp>
      <p:sp>
        <p:nvSpPr>
          <p:cNvPr id="55" name="MVP 5"/>
          <p:cNvSpPr/>
          <p:nvPr/>
        </p:nvSpPr>
        <p:spPr>
          <a:xfrm>
            <a:off x="9908286" y="4800600"/>
            <a:ext cx="1734769" cy="1188720"/>
          </a:xfrm>
          <a:prstGeom prst="roundRect">
            <a:avLst>
              <a:gd name="adj" fmla="val 6154"/>
            </a:avLst>
          </a:prstGeom>
          <a:solidFill>
            <a:schemeClr val="bg2"/>
          </a:solidFill>
          <a:ln w="12700">
            <a:solidFill>
              <a:srgbClr val="56657F"/>
            </a:solidFill>
            <a:prstDash val="dash"/>
          </a:ln>
        </p:spPr>
      </p:sp>
      <p:pic>
        <p:nvPicPr>
          <p:cNvPr id="56" name="MVP 5 icon" descr="preencoded.png">    </p:cNvPr>
          <p:cNvPicPr>
            <a:picLocks noChangeAspect="1"/>
          </p:cNvPicPr>
          <p:nvPr/>
        </p:nvPicPr>
        <p:blipFill>
          <a:blip r:embed="rId6"/>
          <a:stretch>
            <a:fillRect/>
          </a:stretch>
        </p:blipFill>
        <p:spPr>
          <a:xfrm>
            <a:off x="10045446" y="5248656"/>
            <a:ext cx="292608" cy="292608"/>
          </a:xfrm>
          <a:prstGeom prst="rect">
            <a:avLst/>
          </a:prstGeom>
        </p:spPr>
      </p:pic>
      <p:sp>
        <p:nvSpPr>
          <p:cNvPr id="57" name="MVP 5 text"/>
          <p:cNvSpPr txBox="1"/>
          <p:nvPr/>
        </p:nvSpPr>
        <p:spPr>
          <a:xfrm>
            <a:off x="10411206" y="4800600"/>
            <a:ext cx="1140409" cy="1188720"/>
          </a:xfrm>
          <a:prstGeom prst="rect">
            <a:avLst/>
          </a:prstGeom>
          <a:noFill/>
          <a:ln/>
        </p:spPr>
        <p:txBody>
          <a:bodyPr wrap="square" lIns="0" tIns="0" rIns="0" bIns="0" rtlCol="0" anchor="ctr"/>
          <a:lstStyle/>
          <a:p>
            <a:pPr indent="0" marL="0">
              <a:buNone/>
            </a:pPr>
            <a:r>
              <a:rPr lang="en-US" sz="1350" b="1" dirty="0">
                <a:solidFill>
                  <a:schemeClr val="tx2"/>
                </a:solidFill>
              </a:rPr>
              <a:t>Gradio web demo</a:t>
            </a:r>
            <a:endParaRPr lang="en-US" sz="135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57F"/>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indent="0" marL="0">
              <a:buNone/>
            </a:pPr>
            <a:r>
              <a:rPr lang="en-US" sz="3000" b="1" dirty="0">
                <a:solidFill>
                  <a:schemeClr val="bg1"/>
                </a:solidFill>
              </a:rPr>
              <a:t>Conclusion &amp; expected contribution</a:t>
            </a:r>
            <a:endParaRPr lang="en-US" sz="3000" dirty="0"/>
          </a:p>
        </p:txBody>
      </p:sp>
      <p:sp>
        <p:nvSpPr>
          <p:cNvPr id="3" name="Summary"/>
          <p:cNvSpPr txBox="1"/>
          <p:nvPr/>
        </p:nvSpPr>
        <p:spPr>
          <a:xfrm>
            <a:off x="548640" y="1325880"/>
            <a:ext cx="11094415" cy="731520"/>
          </a:xfrm>
          <a:prstGeom prst="rect">
            <a:avLst/>
          </a:prstGeom>
          <a:noFill/>
          <a:ln/>
        </p:spPr>
        <p:txBody>
          <a:bodyPr wrap="square" lIns="0" tIns="0" rIns="0" bIns="0" rtlCol="0" anchor="t"/>
          <a:lstStyle/>
          <a:p>
            <a:pPr indent="0" marL="0">
              <a:buNone/>
            </a:pPr>
            <a:r>
              <a:rPr lang="en-US" sz="1700" dirty="0">
                <a:solidFill>
                  <a:schemeClr val="bg2"/>
                </a:solidFill>
              </a:rPr>
              <a:t>An interpretable, reproducible pipeline that fuses ultrasound and cytology to classify thyroid lesions — already working at AUROC 0.979 on fold 0, with a clear plan to evaluate it rigorously.</a:t>
            </a:r>
            <a:endParaRPr lang="en-US" sz="1700" dirty="0"/>
          </a:p>
        </p:txBody>
      </p:sp>
      <p:sp>
        <p:nvSpPr>
          <p:cNvPr id="4" name="Empirical card"/>
          <p:cNvSpPr/>
          <p:nvPr/>
        </p:nvSpPr>
        <p:spPr>
          <a:xfrm>
            <a:off x="548640" y="2331720"/>
            <a:ext cx="2602154" cy="2743200"/>
          </a:xfrm>
          <a:prstGeom prst="roundRect">
            <a:avLst>
              <a:gd name="adj" fmla="val 2811"/>
            </a:avLst>
          </a:prstGeom>
          <a:solidFill>
            <a:schemeClr val="bg1">
              <a:alpha val="10000"/>
            </a:schemeClr>
          </a:solidFill>
          <a:ln w="9525">
            <a:solidFill>
              <a:schemeClr val="bg1">
                <a:alpha val="30000"/>
              </a:schemeClr>
            </a:solidFill>
            <a:prstDash val="solid"/>
          </a:ln>
        </p:spPr>
      </p:sp>
      <p:sp>
        <p:nvSpPr>
          <p:cNvPr id="5" name="Empirical circle"/>
          <p:cNvSpPr/>
          <p:nvPr/>
        </p:nvSpPr>
        <p:spPr>
          <a:xfrm>
            <a:off x="777240" y="2606040"/>
            <a:ext cx="685800" cy="685800"/>
          </a:xfrm>
          <a:prstGeom prst="ellipse">
            <a:avLst/>
          </a:prstGeom>
          <a:solidFill>
            <a:schemeClr val="accent1"/>
          </a:solidFill>
          <a:ln/>
        </p:spPr>
      </p:sp>
      <p:pic>
        <p:nvPicPr>
          <p:cNvPr id="6" name="Empirical icon" descr="preencoded.png">    </p:cNvPr>
          <p:cNvPicPr>
            <a:picLocks noChangeAspect="1"/>
          </p:cNvPicPr>
          <p:nvPr/>
        </p:nvPicPr>
        <p:blipFill>
          <a:blip r:embed="rId1"/>
          <a:stretch>
            <a:fillRect/>
          </a:stretch>
        </p:blipFill>
        <p:spPr>
          <a:xfrm>
            <a:off x="955548" y="2784348"/>
            <a:ext cx="329184" cy="329184"/>
          </a:xfrm>
          <a:prstGeom prst="rect">
            <a:avLst/>
          </a:prstGeom>
        </p:spPr>
      </p:pic>
      <p:sp>
        <p:nvSpPr>
          <p:cNvPr id="7" name="Empirical tag"/>
          <p:cNvSpPr txBox="1"/>
          <p:nvPr/>
        </p:nvSpPr>
        <p:spPr>
          <a:xfrm>
            <a:off x="2190674" y="2743200"/>
            <a:ext cx="731520" cy="365760"/>
          </a:xfrm>
          <a:prstGeom prst="rect">
            <a:avLst/>
          </a:prstGeom>
          <a:noFill/>
          <a:ln/>
        </p:spPr>
        <p:txBody>
          <a:bodyPr wrap="square" lIns="0" tIns="0" rIns="0" bIns="0" rtlCol="0" anchor="t"/>
          <a:lstStyle/>
          <a:p>
            <a:pPr algn="r" indent="0" marL="0">
              <a:buNone/>
            </a:pPr>
            <a:r>
              <a:rPr lang="en-US" sz="1300" b="1" dirty="0">
                <a:solidFill>
                  <a:schemeClr val="accent1"/>
                </a:solidFill>
              </a:rPr>
              <a:t>RQ1</a:t>
            </a:r>
            <a:endParaRPr lang="en-US" sz="1300" dirty="0"/>
          </a:p>
        </p:txBody>
      </p:sp>
      <p:sp>
        <p:nvSpPr>
          <p:cNvPr id="8" name="Empirical title"/>
          <p:cNvSpPr txBox="1"/>
          <p:nvPr/>
        </p:nvSpPr>
        <p:spPr>
          <a:xfrm>
            <a:off x="777240" y="3474720"/>
            <a:ext cx="2144954" cy="411480"/>
          </a:xfrm>
          <a:prstGeom prst="rect">
            <a:avLst/>
          </a:prstGeom>
          <a:noFill/>
          <a:ln/>
        </p:spPr>
        <p:txBody>
          <a:bodyPr wrap="square" lIns="0" tIns="0" rIns="0" bIns="0" rtlCol="0" anchor="t"/>
          <a:lstStyle/>
          <a:p>
            <a:pPr indent="0" marL="0">
              <a:buNone/>
            </a:pPr>
            <a:r>
              <a:rPr lang="en-US" sz="1900" b="1" dirty="0">
                <a:solidFill>
                  <a:schemeClr val="bg1"/>
                </a:solidFill>
              </a:rPr>
              <a:t>Empirical</a:t>
            </a:r>
            <a:endParaRPr lang="en-US" sz="1900" dirty="0"/>
          </a:p>
        </p:txBody>
      </p:sp>
      <p:sp>
        <p:nvSpPr>
          <p:cNvPr id="9" name="Empirical text"/>
          <p:cNvSpPr txBox="1"/>
          <p:nvPr/>
        </p:nvSpPr>
        <p:spPr>
          <a:xfrm>
            <a:off x="777240" y="3931920"/>
            <a:ext cx="2144954" cy="1097280"/>
          </a:xfrm>
          <a:prstGeom prst="rect">
            <a:avLst/>
          </a:prstGeom>
          <a:noFill/>
          <a:ln/>
        </p:spPr>
        <p:txBody>
          <a:bodyPr wrap="square" lIns="0" tIns="0" rIns="0" bIns="0" rtlCol="0" anchor="t"/>
          <a:lstStyle/>
          <a:p>
            <a:pPr indent="0" marL="0">
              <a:buNone/>
            </a:pPr>
            <a:r>
              <a:rPr lang="en-US" sz="1500" dirty="0">
                <a:solidFill>
                  <a:schemeClr val="bg2"/>
                </a:solidFill>
              </a:rPr>
              <a:t>Controlled ablation of each overfitting control in a 384-patient, two-modality setting.</a:t>
            </a:r>
            <a:endParaRPr lang="en-US" sz="1500" dirty="0"/>
          </a:p>
        </p:txBody>
      </p:sp>
      <p:sp>
        <p:nvSpPr>
          <p:cNvPr id="10" name="Engineering card"/>
          <p:cNvSpPr/>
          <p:nvPr/>
        </p:nvSpPr>
        <p:spPr>
          <a:xfrm>
            <a:off x="3379394" y="2331720"/>
            <a:ext cx="2602154" cy="2743200"/>
          </a:xfrm>
          <a:prstGeom prst="roundRect">
            <a:avLst>
              <a:gd name="adj" fmla="val 2811"/>
            </a:avLst>
          </a:prstGeom>
          <a:solidFill>
            <a:schemeClr val="bg1">
              <a:alpha val="10000"/>
            </a:schemeClr>
          </a:solidFill>
          <a:ln w="9525">
            <a:solidFill>
              <a:schemeClr val="bg1">
                <a:alpha val="30000"/>
              </a:schemeClr>
            </a:solidFill>
            <a:prstDash val="solid"/>
          </a:ln>
        </p:spPr>
      </p:sp>
      <p:sp>
        <p:nvSpPr>
          <p:cNvPr id="11" name="Engineering circle"/>
          <p:cNvSpPr/>
          <p:nvPr/>
        </p:nvSpPr>
        <p:spPr>
          <a:xfrm>
            <a:off x="3607994" y="2606040"/>
            <a:ext cx="685800" cy="685800"/>
          </a:xfrm>
          <a:prstGeom prst="ellipse">
            <a:avLst/>
          </a:prstGeom>
          <a:solidFill>
            <a:schemeClr val="accent2"/>
          </a:solidFill>
          <a:ln/>
        </p:spPr>
      </p:sp>
      <p:pic>
        <p:nvPicPr>
          <p:cNvPr id="12" name="Engineering icon" descr="preencoded.png">    </p:cNvPr>
          <p:cNvPicPr>
            <a:picLocks noChangeAspect="1"/>
          </p:cNvPicPr>
          <p:nvPr/>
        </p:nvPicPr>
        <p:blipFill>
          <a:blip r:embed="rId2"/>
          <a:stretch>
            <a:fillRect/>
          </a:stretch>
        </p:blipFill>
        <p:spPr>
          <a:xfrm>
            <a:off x="3786302" y="2784348"/>
            <a:ext cx="329184" cy="329184"/>
          </a:xfrm>
          <a:prstGeom prst="rect">
            <a:avLst/>
          </a:prstGeom>
        </p:spPr>
      </p:pic>
      <p:sp>
        <p:nvSpPr>
          <p:cNvPr id="13" name="Engineering tag"/>
          <p:cNvSpPr txBox="1"/>
          <p:nvPr/>
        </p:nvSpPr>
        <p:spPr>
          <a:xfrm>
            <a:off x="5021428" y="2743200"/>
            <a:ext cx="731520" cy="365760"/>
          </a:xfrm>
          <a:prstGeom prst="rect">
            <a:avLst/>
          </a:prstGeom>
          <a:noFill/>
          <a:ln/>
        </p:spPr>
        <p:txBody>
          <a:bodyPr wrap="square" lIns="0" tIns="0" rIns="0" bIns="0" rtlCol="0" anchor="t"/>
          <a:lstStyle/>
          <a:p>
            <a:pPr algn="r" indent="0" marL="0">
              <a:buNone/>
            </a:pPr>
            <a:r>
              <a:rPr lang="en-US" sz="1300" b="1" dirty="0">
                <a:solidFill>
                  <a:schemeClr val="accent2"/>
                </a:solidFill>
              </a:rPr>
              <a:t>RQ2</a:t>
            </a:r>
            <a:endParaRPr lang="en-US" sz="1300" dirty="0"/>
          </a:p>
        </p:txBody>
      </p:sp>
      <p:sp>
        <p:nvSpPr>
          <p:cNvPr id="14" name="Engineering title"/>
          <p:cNvSpPr txBox="1"/>
          <p:nvPr/>
        </p:nvSpPr>
        <p:spPr>
          <a:xfrm>
            <a:off x="3607994" y="3474720"/>
            <a:ext cx="2144954" cy="411480"/>
          </a:xfrm>
          <a:prstGeom prst="rect">
            <a:avLst/>
          </a:prstGeom>
          <a:noFill/>
          <a:ln/>
        </p:spPr>
        <p:txBody>
          <a:bodyPr wrap="square" lIns="0" tIns="0" rIns="0" bIns="0" rtlCol="0" anchor="t"/>
          <a:lstStyle/>
          <a:p>
            <a:pPr indent="0" marL="0">
              <a:buNone/>
            </a:pPr>
            <a:r>
              <a:rPr lang="en-US" sz="1900" b="1" dirty="0">
                <a:solidFill>
                  <a:schemeClr val="bg1"/>
                </a:solidFill>
              </a:rPr>
              <a:t>Engineering</a:t>
            </a:r>
            <a:endParaRPr lang="en-US" sz="1900" dirty="0"/>
          </a:p>
        </p:txBody>
      </p:sp>
      <p:sp>
        <p:nvSpPr>
          <p:cNvPr id="15" name="Engineering text"/>
          <p:cNvSpPr txBox="1"/>
          <p:nvPr/>
        </p:nvSpPr>
        <p:spPr>
          <a:xfrm>
            <a:off x="3607994" y="3931920"/>
            <a:ext cx="2144954" cy="1097280"/>
          </a:xfrm>
          <a:prstGeom prst="rect">
            <a:avLst/>
          </a:prstGeom>
          <a:noFill/>
          <a:ln/>
        </p:spPr>
        <p:txBody>
          <a:bodyPr wrap="square" lIns="0" tIns="0" rIns="0" bIns="0" rtlCol="0" anchor="t"/>
          <a:lstStyle/>
          <a:p>
            <a:pPr indent="0" marL="0">
              <a:buNone/>
            </a:pPr>
            <a:r>
              <a:rPr lang="en-US" sz="1500" dirty="0">
                <a:solidFill>
                  <a:schemeClr val="bg2"/>
                </a:solidFill>
              </a:rPr>
              <a:t>Single-entry, config-driven, reproducible pipeline with shared model code.</a:t>
            </a:r>
            <a:endParaRPr lang="en-US" sz="1500" dirty="0"/>
          </a:p>
        </p:txBody>
      </p:sp>
      <p:sp>
        <p:nvSpPr>
          <p:cNvPr id="16" name="Methodological card"/>
          <p:cNvSpPr/>
          <p:nvPr/>
        </p:nvSpPr>
        <p:spPr>
          <a:xfrm>
            <a:off x="6210148" y="2331720"/>
            <a:ext cx="2602154" cy="2743200"/>
          </a:xfrm>
          <a:prstGeom prst="roundRect">
            <a:avLst>
              <a:gd name="adj" fmla="val 2811"/>
            </a:avLst>
          </a:prstGeom>
          <a:solidFill>
            <a:schemeClr val="bg1">
              <a:alpha val="10000"/>
            </a:schemeClr>
          </a:solidFill>
          <a:ln w="9525">
            <a:solidFill>
              <a:schemeClr val="bg1">
                <a:alpha val="30000"/>
              </a:schemeClr>
            </a:solidFill>
            <a:prstDash val="solid"/>
          </a:ln>
        </p:spPr>
      </p:sp>
      <p:sp>
        <p:nvSpPr>
          <p:cNvPr id="17" name="Methodological circle"/>
          <p:cNvSpPr/>
          <p:nvPr/>
        </p:nvSpPr>
        <p:spPr>
          <a:xfrm>
            <a:off x="6438748" y="2606040"/>
            <a:ext cx="685800" cy="685800"/>
          </a:xfrm>
          <a:prstGeom prst="ellipse">
            <a:avLst/>
          </a:prstGeom>
          <a:solidFill>
            <a:srgbClr val="4C9BE8"/>
          </a:solidFill>
          <a:ln/>
        </p:spPr>
      </p:sp>
      <p:pic>
        <p:nvPicPr>
          <p:cNvPr id="18" name="Methodological icon" descr="preencoded.png">    </p:cNvPr>
          <p:cNvPicPr>
            <a:picLocks noChangeAspect="1"/>
          </p:cNvPicPr>
          <p:nvPr/>
        </p:nvPicPr>
        <p:blipFill>
          <a:blip r:embed="rId3"/>
          <a:stretch>
            <a:fillRect/>
          </a:stretch>
        </p:blipFill>
        <p:spPr>
          <a:xfrm>
            <a:off x="6617056" y="2784348"/>
            <a:ext cx="329184" cy="329184"/>
          </a:xfrm>
          <a:prstGeom prst="rect">
            <a:avLst/>
          </a:prstGeom>
        </p:spPr>
      </p:pic>
      <p:sp>
        <p:nvSpPr>
          <p:cNvPr id="19" name="Methodological tag"/>
          <p:cNvSpPr txBox="1"/>
          <p:nvPr/>
        </p:nvSpPr>
        <p:spPr>
          <a:xfrm>
            <a:off x="7852181" y="2743200"/>
            <a:ext cx="731520" cy="365760"/>
          </a:xfrm>
          <a:prstGeom prst="rect">
            <a:avLst/>
          </a:prstGeom>
          <a:noFill/>
          <a:ln/>
        </p:spPr>
        <p:txBody>
          <a:bodyPr wrap="square" lIns="0" tIns="0" rIns="0" bIns="0" rtlCol="0" anchor="t"/>
          <a:lstStyle/>
          <a:p>
            <a:pPr algn="r" indent="0" marL="0">
              <a:buNone/>
            </a:pPr>
            <a:r>
              <a:rPr lang="en-US" sz="1300" b="1" dirty="0">
                <a:solidFill>
                  <a:srgbClr val="4C9BE8"/>
                </a:solidFill>
              </a:rPr>
              <a:t>RQ3</a:t>
            </a:r>
            <a:endParaRPr lang="en-US" sz="1300" dirty="0"/>
          </a:p>
        </p:txBody>
      </p:sp>
      <p:sp>
        <p:nvSpPr>
          <p:cNvPr id="20" name="Methodological title"/>
          <p:cNvSpPr txBox="1"/>
          <p:nvPr/>
        </p:nvSpPr>
        <p:spPr>
          <a:xfrm>
            <a:off x="6438748" y="3474720"/>
            <a:ext cx="2144954" cy="411480"/>
          </a:xfrm>
          <a:prstGeom prst="rect">
            <a:avLst/>
          </a:prstGeom>
          <a:noFill/>
          <a:ln/>
        </p:spPr>
        <p:txBody>
          <a:bodyPr wrap="square" lIns="0" tIns="0" rIns="0" bIns="0" rtlCol="0" anchor="t"/>
          <a:lstStyle/>
          <a:p>
            <a:pPr indent="0" marL="0">
              <a:buNone/>
            </a:pPr>
            <a:r>
              <a:rPr lang="en-US" sz="1900" b="1" dirty="0">
                <a:solidFill>
                  <a:schemeClr val="bg1"/>
                </a:solidFill>
              </a:rPr>
              <a:t>Methodological</a:t>
            </a:r>
            <a:endParaRPr lang="en-US" sz="1900" dirty="0"/>
          </a:p>
        </p:txBody>
      </p:sp>
      <p:sp>
        <p:nvSpPr>
          <p:cNvPr id="21" name="Methodological text"/>
          <p:cNvSpPr txBox="1"/>
          <p:nvPr/>
        </p:nvSpPr>
        <p:spPr>
          <a:xfrm>
            <a:off x="6438748" y="3931920"/>
            <a:ext cx="2144954" cy="1097280"/>
          </a:xfrm>
          <a:prstGeom prst="rect">
            <a:avLst/>
          </a:prstGeom>
          <a:noFill/>
          <a:ln/>
        </p:spPr>
        <p:txBody>
          <a:bodyPr wrap="square" lIns="0" tIns="0" rIns="0" bIns="0" rtlCol="0" anchor="t"/>
          <a:lstStyle/>
          <a:p>
            <a:pPr indent="0" marL="0">
              <a:buNone/>
            </a:pPr>
            <a:r>
              <a:rPr lang="en-US" sz="1500" dirty="0">
                <a:solidFill>
                  <a:schemeClr val="bg2"/>
                </a:solidFill>
              </a:rPr>
              <a:t>Clinical evaluation protocol: CIs, calibration, thresholds, faithfulness-tested relevance.</a:t>
            </a:r>
            <a:endParaRPr lang="en-US" sz="1500" dirty="0"/>
          </a:p>
        </p:txBody>
      </p:sp>
      <p:sp>
        <p:nvSpPr>
          <p:cNvPr id="22" name="Product card"/>
          <p:cNvSpPr/>
          <p:nvPr/>
        </p:nvSpPr>
        <p:spPr>
          <a:xfrm>
            <a:off x="9040901" y="2331720"/>
            <a:ext cx="2602154" cy="2743200"/>
          </a:xfrm>
          <a:prstGeom prst="roundRect">
            <a:avLst>
              <a:gd name="adj" fmla="val 2811"/>
            </a:avLst>
          </a:prstGeom>
          <a:solidFill>
            <a:schemeClr val="bg1">
              <a:alpha val="10000"/>
            </a:schemeClr>
          </a:solidFill>
          <a:ln w="9525">
            <a:solidFill>
              <a:schemeClr val="bg1">
                <a:alpha val="30000"/>
              </a:schemeClr>
            </a:solidFill>
            <a:prstDash val="solid"/>
          </a:ln>
        </p:spPr>
      </p:sp>
      <p:sp>
        <p:nvSpPr>
          <p:cNvPr id="23" name="Product circle"/>
          <p:cNvSpPr/>
          <p:nvPr/>
        </p:nvSpPr>
        <p:spPr>
          <a:xfrm>
            <a:off x="9269501" y="2606040"/>
            <a:ext cx="685800" cy="685800"/>
          </a:xfrm>
          <a:prstGeom prst="ellipse">
            <a:avLst/>
          </a:prstGeom>
          <a:solidFill>
            <a:schemeClr val="accent5"/>
          </a:solidFill>
          <a:ln/>
        </p:spPr>
      </p:sp>
      <p:pic>
        <p:nvPicPr>
          <p:cNvPr id="24" name="Product icon" descr="preencoded.png">    </p:cNvPr>
          <p:cNvPicPr>
            <a:picLocks noChangeAspect="1"/>
          </p:cNvPicPr>
          <p:nvPr/>
        </p:nvPicPr>
        <p:blipFill>
          <a:blip r:embed="rId4"/>
          <a:stretch>
            <a:fillRect/>
          </a:stretch>
        </p:blipFill>
        <p:spPr>
          <a:xfrm>
            <a:off x="9447809" y="2784348"/>
            <a:ext cx="329184" cy="329184"/>
          </a:xfrm>
          <a:prstGeom prst="rect">
            <a:avLst/>
          </a:prstGeom>
        </p:spPr>
      </p:pic>
      <p:sp>
        <p:nvSpPr>
          <p:cNvPr id="25" name="Product tag"/>
          <p:cNvSpPr txBox="1"/>
          <p:nvPr/>
        </p:nvSpPr>
        <p:spPr>
          <a:xfrm>
            <a:off x="10682935" y="2743200"/>
            <a:ext cx="731520" cy="365760"/>
          </a:xfrm>
          <a:prstGeom prst="rect">
            <a:avLst/>
          </a:prstGeom>
          <a:noFill/>
          <a:ln/>
        </p:spPr>
        <p:txBody>
          <a:bodyPr wrap="square" lIns="0" tIns="0" rIns="0" bIns="0" rtlCol="0" anchor="t"/>
          <a:lstStyle/>
          <a:p>
            <a:pPr algn="r" indent="0" marL="0">
              <a:buNone/>
            </a:pPr>
            <a:r>
              <a:rPr lang="en-US" sz="1300" b="1" dirty="0">
                <a:solidFill>
                  <a:schemeClr val="accent5"/>
                </a:solidFill>
              </a:rPr>
              <a:t>MVP</a:t>
            </a:r>
            <a:endParaRPr lang="en-US" sz="1300" dirty="0"/>
          </a:p>
        </p:txBody>
      </p:sp>
      <p:sp>
        <p:nvSpPr>
          <p:cNvPr id="26" name="Product title"/>
          <p:cNvSpPr txBox="1"/>
          <p:nvPr/>
        </p:nvSpPr>
        <p:spPr>
          <a:xfrm>
            <a:off x="9269501" y="3474720"/>
            <a:ext cx="2144954" cy="411480"/>
          </a:xfrm>
          <a:prstGeom prst="rect">
            <a:avLst/>
          </a:prstGeom>
          <a:noFill/>
          <a:ln/>
        </p:spPr>
        <p:txBody>
          <a:bodyPr wrap="square" lIns="0" tIns="0" rIns="0" bIns="0" rtlCol="0" anchor="t"/>
          <a:lstStyle/>
          <a:p>
            <a:pPr indent="0" marL="0">
              <a:buNone/>
            </a:pPr>
            <a:r>
              <a:rPr lang="en-US" sz="1900" b="1" dirty="0">
                <a:solidFill>
                  <a:schemeClr val="bg1"/>
                </a:solidFill>
              </a:rPr>
              <a:t>Product</a:t>
            </a:r>
            <a:endParaRPr lang="en-US" sz="1900" dirty="0"/>
          </a:p>
        </p:txBody>
      </p:sp>
      <p:sp>
        <p:nvSpPr>
          <p:cNvPr id="27" name="Product text"/>
          <p:cNvSpPr txBox="1"/>
          <p:nvPr/>
        </p:nvSpPr>
        <p:spPr>
          <a:xfrm>
            <a:off x="9269501" y="3931920"/>
            <a:ext cx="2144954" cy="1097280"/>
          </a:xfrm>
          <a:prstGeom prst="rect">
            <a:avLst/>
          </a:prstGeom>
          <a:noFill/>
          <a:ln/>
        </p:spPr>
        <p:txBody>
          <a:bodyPr wrap="square" lIns="0" tIns="0" rIns="0" bIns="0" rtlCol="0" anchor="t"/>
          <a:lstStyle/>
          <a:p>
            <a:pPr indent="0" marL="0">
              <a:buNone/>
            </a:pPr>
            <a:r>
              <a:rPr lang="en-US" sz="1500" dirty="0">
                <a:solidFill>
                  <a:schemeClr val="bg2"/>
                </a:solidFill>
              </a:rPr>
              <a:t>Inference CLI + web demo: images in → P(PTC) + visual explanation out (research use only).</a:t>
            </a:r>
            <a:endParaRPr lang="en-US" sz="1500" dirty="0"/>
          </a:p>
        </p:txBody>
      </p:sp>
      <p:sp>
        <p:nvSpPr>
          <p:cNvPr id="28" name="Closing line"/>
          <p:cNvSpPr txBox="1"/>
          <p:nvPr/>
        </p:nvSpPr>
        <p:spPr>
          <a:xfrm>
            <a:off x="548640" y="5440680"/>
            <a:ext cx="11094415" cy="457200"/>
          </a:xfrm>
          <a:prstGeom prst="rect">
            <a:avLst/>
          </a:prstGeom>
          <a:noFill/>
          <a:ln/>
        </p:spPr>
        <p:txBody>
          <a:bodyPr wrap="square" lIns="0" tIns="0" rIns="0" bIns="0" rtlCol="0" anchor="t"/>
          <a:lstStyle/>
          <a:p>
            <a:pPr indent="0" marL="0">
              <a:buNone/>
            </a:pPr>
            <a:r>
              <a:rPr lang="en-US" sz="1700" b="1" i="1" dirty="0">
                <a:solidFill>
                  <a:schemeClr val="accent1"/>
                </a:solidFill>
              </a:rPr>
              <a:t>From a promising prototype to an evaluated, explainable, research-grade MVP by the final presentation.</a:t>
            </a:r>
            <a:endParaRPr lang="en-US" sz="17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hanks kicker"/>
          <p:cNvSpPr txBox="1"/>
          <p:nvPr/>
        </p:nvSpPr>
        <p:spPr>
          <a:xfrm>
            <a:off x="548640" y="1280160"/>
            <a:ext cx="6858000" cy="365760"/>
          </a:xfrm>
          <a:prstGeom prst="rect">
            <a:avLst/>
          </a:prstGeom>
          <a:noFill/>
          <a:ln/>
        </p:spPr>
        <p:txBody>
          <a:bodyPr wrap="square" lIns="0" tIns="0" rIns="0" bIns="0" rtlCol="0" anchor="t"/>
          <a:lstStyle/>
          <a:p>
            <a:pPr indent="0" marL="0">
              <a:buNone/>
            </a:pPr>
            <a:r>
              <a:rPr lang="en-US" sz="1600" b="1" spc="300" kern="0" dirty="0">
                <a:solidFill>
                  <a:schemeClr val="accent1"/>
                </a:solidFill>
              </a:rPr>
              <a:t>THANK YOU</a:t>
            </a:r>
            <a:endParaRPr lang="en-US" sz="1600" dirty="0"/>
          </a:p>
        </p:txBody>
      </p:sp>
      <p:sp>
        <p:nvSpPr>
          <p:cNvPr id="3" name="Text 0"/>
          <p:cNvSpPr/>
          <p:nvPr>
            <p:ph idx="100" type="title" hasCustomPrompt="1"/>
          </p:nvPr>
        </p:nvSpPr>
        <p:spPr>
          <a:xfrm>
            <a:off x="548640" y="1874520"/>
            <a:ext cx="6858000" cy="2286000"/>
          </a:xfrm>
          <a:prstGeom prst="rect">
            <a:avLst/>
          </a:prstGeom>
          <a:noFill/>
          <a:ln/>
        </p:spPr>
        <p:txBody>
          <a:bodyPr wrap="square" lIns="0" tIns="0" rIns="0" bIns="0" rtlCol="0" anchor="t"/>
          <a:lstStyle/>
          <a:p>
            <a:pPr algn="l" indent="0" marL="0">
              <a:buNone/>
            </a:pPr>
            <a:r>
              <a:rPr lang="en-US" sz="3000" b="1" dirty="0">
                <a:solidFill>
                  <a:schemeClr val="bg1"/>
                </a:solidFill>
              </a:rPr>
              <a:t>Questions &amp; discussion</a:t>
            </a:r>
            <a:endParaRPr lang="en-US" sz="3000" dirty="0"/>
          </a:p>
        </p:txBody>
      </p:sp>
      <p:sp>
        <p:nvSpPr>
          <p:cNvPr id="4" name="Contact"/>
          <p:cNvSpPr txBox="1"/>
          <p:nvPr/>
        </p:nvSpPr>
        <p:spPr>
          <a:xfrm>
            <a:off x="548640" y="4434840"/>
            <a:ext cx="6858000" cy="1188720"/>
          </a:xfrm>
          <a:prstGeom prst="rect">
            <a:avLst/>
          </a:prstGeom>
          <a:noFill/>
          <a:ln/>
        </p:spPr>
        <p:txBody>
          <a:bodyPr wrap="square" lIns="0" tIns="0" rIns="0" bIns="0" rtlCol="0" anchor="t"/>
          <a:lstStyle/>
          <a:p>
            <a:pPr indent="0" marL="0">
              <a:spcAft>
                <a:spcPts val="400"/>
              </a:spcAft>
              <a:buNone/>
            </a:pPr>
            <a:r>
              <a:rPr lang="en-US" sz="1500" b="1" dirty="0">
                <a:solidFill>
                  <a:schemeClr val="bg2"/>
                </a:solidFill>
              </a:rPr>
              <a:t>Team MedAI · Usmanov Lazizbek (230405)</a:t>
            </a:r>
            <a:endParaRPr lang="en-US" sz="1500" dirty="0"/>
          </a:p>
          <a:p>
            <a:pPr indent="0" marL="0">
              <a:spcAft>
                <a:spcPts val="400"/>
              </a:spcAft>
              <a:buNone/>
            </a:pPr>
            <a:r>
              <a:rPr lang="en-US" sz="1500" dirty="0">
                <a:solidFill>
                  <a:schemeClr val="bg2"/>
                </a:solidFill>
              </a:rPr>
              <a:t>Interpretable Deep Learning Pipeline for Thyroid Lesion Classification</a:t>
            </a:r>
            <a:endParaRPr lang="en-US" sz="1500" dirty="0"/>
          </a:p>
          <a:p>
            <a:pPr indent="0" marL="0">
              <a:spcAft>
                <a:spcPts val="400"/>
              </a:spcAft>
              <a:buNone/>
            </a:pPr>
            <a:r>
              <a:rPr lang="en-US" sz="1500" dirty="0">
                <a:solidFill>
                  <a:schemeClr val="bg2"/>
                </a:solidFill>
              </a:rPr>
              <a:t>Backup slides: MVP conceptual diagram · key references</a:t>
            </a:r>
            <a:endParaRPr lang="en-US" sz="1500" dirty="0"/>
          </a:p>
        </p:txBody>
      </p:sp>
      <p:pic>
        <p:nvPicPr>
          <p:cNvPr id="5" name="QA image 0" descr="Sample image from the dataset">    </p:cNvPr>
          <p:cNvPicPr>
            <a:picLocks noChangeAspect="1"/>
          </p:cNvPicPr>
          <p:nvPr/>
        </p:nvPicPr>
        <p:blipFill>
          <a:blip r:embed="rId1"/>
          <a:stretch>
            <a:fillRect/>
          </a:stretch>
        </p:blipFill>
        <p:spPr>
          <a:xfrm>
            <a:off x="7818120" y="1188720"/>
            <a:ext cx="1874520" cy="1874520"/>
          </a:xfrm>
          <a:prstGeom prst="rect">
            <a:avLst/>
          </a:prstGeom>
        </p:spPr>
      </p:pic>
      <p:pic>
        <p:nvPicPr>
          <p:cNvPr id="6" name="QA image 1" descr="Sample image from the dataset">    </p:cNvPr>
          <p:cNvPicPr>
            <a:picLocks noChangeAspect="1"/>
          </p:cNvPicPr>
          <p:nvPr/>
        </p:nvPicPr>
        <p:blipFill>
          <a:blip r:embed="rId2"/>
          <a:stretch>
            <a:fillRect/>
          </a:stretch>
        </p:blipFill>
        <p:spPr>
          <a:xfrm>
            <a:off x="9829800" y="1188720"/>
            <a:ext cx="1874520" cy="1874520"/>
          </a:xfrm>
          <a:prstGeom prst="rect">
            <a:avLst/>
          </a:prstGeom>
        </p:spPr>
      </p:pic>
      <p:pic>
        <p:nvPicPr>
          <p:cNvPr id="7" name="QA image 2" descr="Sample image from the dataset">    </p:cNvPr>
          <p:cNvPicPr>
            <a:picLocks noChangeAspect="1"/>
          </p:cNvPicPr>
          <p:nvPr/>
        </p:nvPicPr>
        <p:blipFill>
          <a:blip r:embed="rId3"/>
          <a:stretch>
            <a:fillRect/>
          </a:stretch>
        </p:blipFill>
        <p:spPr>
          <a:xfrm>
            <a:off x="7818120" y="3200400"/>
            <a:ext cx="1874520" cy="1874520"/>
          </a:xfrm>
          <a:prstGeom prst="rect">
            <a:avLst/>
          </a:prstGeom>
        </p:spPr>
      </p:pic>
      <p:pic>
        <p:nvPicPr>
          <p:cNvPr id="8" name="QA image 3" descr="Sample image from the dataset">    </p:cNvPr>
          <p:cNvPicPr>
            <a:picLocks noChangeAspect="1"/>
          </p:cNvPicPr>
          <p:nvPr/>
        </p:nvPicPr>
        <p:blipFill>
          <a:blip r:embed="rId4"/>
          <a:stretch>
            <a:fillRect/>
          </a:stretch>
        </p:blipFill>
        <p:spPr>
          <a:xfrm>
            <a:off x="9829800" y="3200400"/>
            <a:ext cx="1874520" cy="18745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2800" b="1" dirty="0">
                <a:solidFill>
                  <a:schemeClr val="tx2"/>
                </a:solidFill>
              </a:rPr>
              <a:t>Backup: MVP conceptual diagram</a:t>
            </a:r>
            <a:endParaRPr lang="en-US" sz="2800" dirty="0"/>
          </a:p>
        </p:txBody>
      </p:sp>
      <p:pic>
        <p:nvPicPr>
          <p:cNvPr id="3" name="MVP diagram" descr="MVP conceptual diagram: input, pre-processing, model, risk assessment, web interface">    </p:cNvPr>
          <p:cNvPicPr>
            <a:picLocks noChangeAspect="1"/>
          </p:cNvPicPr>
          <p:nvPr/>
        </p:nvPicPr>
        <p:blipFill>
          <a:blip r:embed="rId1"/>
          <a:stretch>
            <a:fillRect/>
          </a:stretch>
        </p:blipFill>
        <p:spPr>
          <a:xfrm>
            <a:off x="1066648" y="1188720"/>
            <a:ext cx="10058400" cy="4805680"/>
          </a:xfrm>
          <a:prstGeom prst="rect">
            <a:avLst/>
          </a:prstGeom>
        </p:spPr>
      </p:pic>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57F"/>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2800" b="1" dirty="0">
                <a:solidFill>
                  <a:schemeClr val="tx2"/>
                </a:solidFill>
              </a:rPr>
              <a:t>Backup: key references (IEEE)</a:t>
            </a:r>
            <a:endParaRPr lang="en-US" sz="2800" dirty="0"/>
          </a:p>
        </p:txBody>
      </p:sp>
      <p:sp>
        <p:nvSpPr>
          <p:cNvPr id="3" name="References col 0"/>
          <p:cNvSpPr txBox="1"/>
          <p:nvPr/>
        </p:nvSpPr>
        <p:spPr>
          <a:xfrm>
            <a:off x="548640" y="1280160"/>
            <a:ext cx="5440680" cy="4937760"/>
          </a:xfrm>
          <a:prstGeom prst="rect">
            <a:avLst/>
          </a:prstGeom>
          <a:noFill/>
          <a:ln/>
        </p:spPr>
        <p:txBody>
          <a:bodyPr wrap="square" lIns="0" tIns="0" rIns="0" bIns="0" rtlCol="0" anchor="t"/>
          <a:lstStyle/>
          <a:p>
            <a:pPr indent="0" marL="0">
              <a:spcAft>
                <a:spcPts val="1000"/>
              </a:spcAft>
              <a:buNone/>
            </a:pPr>
            <a:r>
              <a:rPr lang="en-US" sz="1300" dirty="0">
                <a:solidFill>
                  <a:schemeClr val="tx1"/>
                </a:solidFill>
              </a:rPr>
              <a:t>[7]  X. Li et al., “Diagnosis of thyroid cancer using deep CNN models applied to sonographic images,” Lancet Oncol., vol. 20, no. 2, pp. 193–201, 2019.</a:t>
            </a:r>
            <a:endParaRPr lang="en-US" sz="1300" dirty="0"/>
          </a:p>
          <a:p>
            <a:pPr indent="0" marL="0">
              <a:spcAft>
                <a:spcPts val="1000"/>
              </a:spcAft>
              <a:buNone/>
            </a:pPr>
            <a:r>
              <a:rPr lang="en-US" sz="1300" dirty="0">
                <a:solidFill>
                  <a:schemeClr val="tx1"/>
                </a:solidFill>
              </a:rPr>
              <a:t>[8]  M. Buda et al., “Management of thyroid nodules seen on US images: Deep learning may match performance of radiologists,” Radiology, vol. 292, no. 3, pp. 695–701, 2019.</a:t>
            </a:r>
            <a:endParaRPr lang="en-US" sz="1300" dirty="0"/>
          </a:p>
          <a:p>
            <a:pPr indent="0" marL="0">
              <a:spcAft>
                <a:spcPts val="1000"/>
              </a:spcAft>
              <a:buNone/>
            </a:pPr>
            <a:r>
              <a:rPr lang="en-US" sz="1300" dirty="0">
                <a:solidFill>
                  <a:schemeClr val="tx1"/>
                </a:solidFill>
              </a:rPr>
              <a:t>[9]  Q. Guan et al., “Deep CNN VGG-16 model for differential diagnosing of papillary thyroid carcinomas in cytological images,” J. Cancer, vol. 10, no. 20, pp. 4876–4882, 2019.</a:t>
            </a:r>
            <a:endParaRPr lang="en-US" sz="1300" dirty="0"/>
          </a:p>
          <a:p>
            <a:pPr indent="0" marL="0">
              <a:spcAft>
                <a:spcPts val="1000"/>
              </a:spcAft>
              <a:buNone/>
            </a:pPr>
            <a:r>
              <a:rPr lang="en-US" sz="1300" dirty="0">
                <a:solidFill>
                  <a:schemeClr val="tx1"/>
                </a:solidFill>
              </a:rPr>
              <a:t>[10]  D. Elliott Range et al., “Application of a machine learning algorithm to predict malignancy in thyroid cytopathology,” Cancer Cytopathol., vol. 128, no. 4, pp. 287–295, 2020.</a:t>
            </a:r>
            <a:endParaRPr lang="en-US" sz="1300" dirty="0"/>
          </a:p>
          <a:p>
            <a:pPr indent="0" marL="0">
              <a:spcAft>
                <a:spcPts val="1000"/>
              </a:spcAft>
              <a:buNone/>
            </a:pPr>
            <a:r>
              <a:rPr lang="en-US" sz="1300" dirty="0">
                <a:solidFill>
                  <a:schemeClr val="tx1"/>
                </a:solidFill>
              </a:rPr>
              <a:t>[12]  M. Y. Lu et al., “Data-efficient and weakly supervised computational pathology on whole-slide images,” Nat. Biomed. Eng., vol. 5, pp. 555–570, 2021.</a:t>
            </a:r>
            <a:endParaRPr lang="en-US" sz="1300" dirty="0"/>
          </a:p>
          <a:p>
            <a:pPr indent="0" marL="0">
              <a:spcAft>
                <a:spcPts val="1000"/>
              </a:spcAft>
              <a:buNone/>
            </a:pPr>
            <a:r>
              <a:rPr lang="en-US" sz="1300" dirty="0">
                <a:solidFill>
                  <a:schemeClr val="tx1"/>
                </a:solidFill>
              </a:rPr>
              <a:t>[15]  J. Mongan, L. Moy, and C. E. Kahn Jr., “Checklist for Artificial Intelligence in Medical Imaging (CLAIM),” Radiol. Artif. Intell., vol. 2, no. 2, e200029, 2020.</a:t>
            </a:r>
            <a:endParaRPr lang="en-US" sz="1300" dirty="0"/>
          </a:p>
        </p:txBody>
      </p:sp>
      <p:sp>
        <p:nvSpPr>
          <p:cNvPr id="4" name="References col 1"/>
          <p:cNvSpPr txBox="1"/>
          <p:nvPr/>
        </p:nvSpPr>
        <p:spPr>
          <a:xfrm>
            <a:off x="6217920" y="1280160"/>
            <a:ext cx="5440680" cy="4937760"/>
          </a:xfrm>
          <a:prstGeom prst="rect">
            <a:avLst/>
          </a:prstGeom>
          <a:noFill/>
          <a:ln/>
        </p:spPr>
        <p:txBody>
          <a:bodyPr wrap="square" lIns="0" tIns="0" rIns="0" bIns="0" rtlCol="0" anchor="t"/>
          <a:lstStyle/>
          <a:p>
            <a:pPr indent="0" marL="0">
              <a:spcAft>
                <a:spcPts val="1000"/>
              </a:spcAft>
              <a:buNone/>
            </a:pPr>
            <a:r>
              <a:rPr lang="en-US" sz="1300" dirty="0">
                <a:solidFill>
                  <a:schemeClr val="tx1"/>
                </a:solidFill>
              </a:rPr>
              <a:t>[19]  Z. Liu et al., “A ConvNet for the 2020s,” in Proc. CVPR, 2022, pp. 11976–11986.</a:t>
            </a:r>
            <a:endParaRPr lang="en-US" sz="1300" dirty="0"/>
          </a:p>
          <a:p>
            <a:pPr indent="0" marL="0">
              <a:spcAft>
                <a:spcPts val="1000"/>
              </a:spcAft>
              <a:buNone/>
            </a:pPr>
            <a:r>
              <a:rPr lang="en-US" sz="1300" dirty="0">
                <a:solidFill>
                  <a:schemeClr val="tx1"/>
                </a:solidFill>
              </a:rPr>
              <a:t>[20]  A. Vaswani et al., “Attention is all you need,” in Adv. Neural Inf. Process. Syst., vol. 30, 2017, pp. 5998–6008.</a:t>
            </a:r>
            <a:endParaRPr lang="en-US" sz="1300" dirty="0"/>
          </a:p>
          <a:p>
            <a:pPr indent="0" marL="0">
              <a:spcAft>
                <a:spcPts val="1000"/>
              </a:spcAft>
              <a:buNone/>
            </a:pPr>
            <a:r>
              <a:rPr lang="en-US" sz="1300" dirty="0">
                <a:solidFill>
                  <a:schemeClr val="tx1"/>
                </a:solidFill>
              </a:rPr>
              <a:t>[21]  M. Ilse, J. M. Tomczak, and M. Welling, “Attention-based deep multiple instance learning,” in Proc. ICML, 2018, pp. 2127–2136.</a:t>
            </a:r>
            <a:endParaRPr lang="en-US" sz="1300" dirty="0"/>
          </a:p>
          <a:p>
            <a:pPr indent="0" marL="0">
              <a:spcAft>
                <a:spcPts val="1000"/>
              </a:spcAft>
              <a:buNone/>
            </a:pPr>
            <a:r>
              <a:rPr lang="en-US" sz="1300" dirty="0">
                <a:solidFill>
                  <a:schemeClr val="tx1"/>
                </a:solidFill>
              </a:rPr>
              <a:t>[22]  S.-C. Huang et al., “Fusion of medical imaging and electronic health records using deep learning,” npj Digit. Med., vol. 3, Art. no. 136, 2020.</a:t>
            </a:r>
            <a:endParaRPr lang="en-US" sz="1300" dirty="0"/>
          </a:p>
          <a:p>
            <a:pPr indent="0" marL="0">
              <a:spcAft>
                <a:spcPts val="1000"/>
              </a:spcAft>
              <a:buNone/>
            </a:pPr>
            <a:r>
              <a:rPr lang="en-US" sz="1300" dirty="0">
                <a:solidFill>
                  <a:schemeClr val="tx1"/>
                </a:solidFill>
              </a:rPr>
              <a:t>[29]  C. Guo et al., “On calibration of modern neural networks,” in Proc. ICML, 2017, pp. 1321–1330.</a:t>
            </a:r>
            <a:endParaRPr lang="en-US" sz="1300" dirty="0"/>
          </a:p>
          <a:p>
            <a:pPr indent="0" marL="0">
              <a:spcAft>
                <a:spcPts val="1000"/>
              </a:spcAft>
              <a:buNone/>
            </a:pPr>
            <a:r>
              <a:rPr lang="en-US" sz="1300" dirty="0">
                <a:solidFill>
                  <a:schemeClr val="tx1"/>
                </a:solidFill>
              </a:rPr>
              <a:t>[35]  S. Jain and B. C. Wallace, “Attention is not explanation,” in Proc. NAACL-HLT, 2019, pp. 3543–3556.</a:t>
            </a:r>
            <a:endParaRPr lang="en-US"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57F"/>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MedAI Thyroid">
  <a:themeElements>
    <a:clrScheme name="MedAI Thyroid">
      <a:dk1>
        <a:srgbClr val="1F2937"/>
      </a:dk1>
      <a:lt1>
        <a:srgbClr val="FFFFFF"/>
      </a:lt1>
      <a:dk2>
        <a:srgbClr val="1B2A4A"/>
      </a:dk2>
      <a:lt2>
        <a:srgbClr val="F3F6FA"/>
      </a:lt2>
      <a:accent1>
        <a:srgbClr val="E86B4C"/>
      </a:accent1>
      <a:accent2>
        <a:srgbClr val="9C3D7E"/>
      </a:accent2>
      <a:accent3>
        <a:srgbClr val="56657F"/>
      </a:accent3>
      <a:accent4>
        <a:srgbClr val="4C9BE8"/>
      </a:accent4>
      <a:accent5>
        <a:srgbClr val="2E8B6E"/>
      </a:accent5>
      <a:accent6>
        <a:srgbClr val="EFA91A"/>
      </a:accent6>
      <a:hlink>
        <a:srgbClr val="4C9BE8"/>
      </a:hlink>
      <a:folHlink>
        <a:srgbClr val="9C3D7E"/>
      </a:folHlink>
    </a:clrScheme>
    <a:fontScheme name="MedAI Thyroid">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MedAI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Interpretable Deep Learning Pipeline for Thyroid Lesion Classification — Midterm Proposal</dc:title>
  <dc:subject>PptxGenJS Presentation</dc:subject>
  <dc:creator>Usmanov Lazizbek</dc:creator>
  <cp:lastModifiedBy>Usmanov Lazizbek</cp:lastModifiedBy>
  <cp:revision>1</cp:revision>
  <dcterms:created xsi:type="dcterms:W3CDTF">2026-10-19T07:53:38Z</dcterms:created>
  <dcterms:modified xsi:type="dcterms:W3CDTF">2026-10-19T07:53:38Z</dcterms:modified>
</cp:coreProperties>
</file>